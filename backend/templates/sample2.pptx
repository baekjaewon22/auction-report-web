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60" r:id="rId4"/>
    <p:sldId id="305" r:id="rId5"/>
    <p:sldId id="264" r:id="rId6"/>
    <p:sldId id="317" r:id="rId7"/>
    <p:sldId id="318" r:id="rId8"/>
    <p:sldId id="276" r:id="rId9"/>
    <p:sldId id="319" r:id="rId10"/>
    <p:sldId id="306" r:id="rId11"/>
    <p:sldId id="277" r:id="rId12"/>
    <p:sldId id="321" r:id="rId13"/>
    <p:sldId id="278" r:id="rId14"/>
    <p:sldId id="320" r:id="rId15"/>
    <p:sldId id="307" r:id="rId16"/>
    <p:sldId id="322" r:id="rId17"/>
    <p:sldId id="279" r:id="rId18"/>
    <p:sldId id="295" r:id="rId19"/>
    <p:sldId id="296" r:id="rId20"/>
    <p:sldId id="323" r:id="rId21"/>
    <p:sldId id="324" r:id="rId22"/>
    <p:sldId id="297" r:id="rId23"/>
    <p:sldId id="308" r:id="rId24"/>
    <p:sldId id="266" r:id="rId25"/>
    <p:sldId id="301" r:id="rId26"/>
    <p:sldId id="316" r:id="rId27"/>
    <p:sldId id="304" r:id="rId28"/>
    <p:sldId id="302" r:id="rId29"/>
    <p:sldId id="327" r:id="rId30"/>
    <p:sldId id="275" r:id="rId31"/>
    <p:sldId id="281" r:id="rId32"/>
    <p:sldId id="309" r:id="rId33"/>
    <p:sldId id="325" r:id="rId34"/>
    <p:sldId id="268" r:id="rId35"/>
    <p:sldId id="267" r:id="rId36"/>
    <p:sldId id="310" r:id="rId37"/>
    <p:sldId id="270" r:id="rId38"/>
    <p:sldId id="314" r:id="rId39"/>
    <p:sldId id="269" r:id="rId40"/>
    <p:sldId id="326" r:id="rId41"/>
  </p:sldIdLst>
  <p:sldSz cx="10691813" cy="7559675"/>
  <p:notesSz cx="9906000" cy="6794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1D4F54-9DF0-4833-9F11-2814A7F9935A}">
          <p14:sldIdLst>
            <p14:sldId id="256"/>
            <p14:sldId id="257"/>
            <p14:sldId id="260"/>
            <p14:sldId id="305"/>
            <p14:sldId id="264"/>
            <p14:sldId id="317"/>
            <p14:sldId id="318"/>
            <p14:sldId id="276"/>
            <p14:sldId id="319"/>
            <p14:sldId id="306"/>
            <p14:sldId id="277"/>
            <p14:sldId id="321"/>
            <p14:sldId id="278"/>
            <p14:sldId id="320"/>
            <p14:sldId id="307"/>
            <p14:sldId id="322"/>
            <p14:sldId id="279"/>
            <p14:sldId id="295"/>
            <p14:sldId id="296"/>
            <p14:sldId id="323"/>
            <p14:sldId id="324"/>
            <p14:sldId id="297"/>
            <p14:sldId id="308"/>
            <p14:sldId id="266"/>
            <p14:sldId id="301"/>
            <p14:sldId id="316"/>
            <p14:sldId id="304"/>
            <p14:sldId id="302"/>
            <p14:sldId id="327"/>
            <p14:sldId id="275"/>
            <p14:sldId id="281"/>
            <p14:sldId id="309"/>
            <p14:sldId id="325"/>
            <p14:sldId id="268"/>
            <p14:sldId id="267"/>
            <p14:sldId id="310"/>
            <p14:sldId id="270"/>
            <p14:sldId id="314"/>
            <p14:sldId id="269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영훈" initials="김" lastIdx="3" clrIdx="0">
    <p:extLst>
      <p:ext uri="{19B8F6BF-5375-455C-9EA6-DF929625EA0E}">
        <p15:presenceInfo xmlns:p15="http://schemas.microsoft.com/office/powerpoint/2012/main" userId="김영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A8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7" autoAdjust="0"/>
    <p:restoredTop sz="85402" autoAdjust="0"/>
  </p:normalViewPr>
  <p:slideViewPr>
    <p:cSldViewPr snapToGrid="0">
      <p:cViewPr varScale="1">
        <p:scale>
          <a:sx n="93" d="100"/>
          <a:sy n="93" d="100"/>
        </p:scale>
        <p:origin x="190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28DC48A-717F-4AED-8A3D-C83A95FE1F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AE88D5-7D4C-4CA9-AA21-A9355C8F47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11813" y="0"/>
            <a:ext cx="42926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2D45D-5614-4A33-932F-BEF3E9F3F971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FA87B4-67B4-4ADD-A9D7-5DD506A44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3188"/>
            <a:ext cx="42926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6569D-D798-4EF1-9002-E27CACBEC0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11813" y="6453188"/>
            <a:ext cx="42926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46C-517E-4CEF-90AA-ECFC9A1FF2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388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12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11681" y="0"/>
            <a:ext cx="4292600" cy="3412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AA004-DB02-4F28-9B1F-7B8DAB760617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30575" y="849313"/>
            <a:ext cx="324485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0600" y="3269854"/>
            <a:ext cx="7924800" cy="2675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3203"/>
            <a:ext cx="4292600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11681" y="6453203"/>
            <a:ext cx="4292600" cy="3412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412F5-7EDD-4F07-896F-1DB4725C0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4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1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ko-KR" dirty="0"/>
              <a:t>※ </a:t>
            </a:r>
            <a:r>
              <a:rPr lang="ko-KR" altLang="en-US" dirty="0"/>
              <a:t>의뢰고객명 </a:t>
            </a:r>
            <a:r>
              <a:rPr lang="en-US" altLang="ko-KR" dirty="0"/>
              <a:t>/ </a:t>
            </a:r>
            <a:r>
              <a:rPr lang="ko-KR" altLang="en-US" dirty="0"/>
              <a:t>법원</a:t>
            </a:r>
            <a:r>
              <a:rPr lang="en-US" altLang="ko-KR" dirty="0"/>
              <a:t>~</a:t>
            </a:r>
            <a:r>
              <a:rPr lang="ko-KR" altLang="en-US" dirty="0" err="1"/>
              <a:t>경매계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사건번호 </a:t>
            </a:r>
            <a:r>
              <a:rPr lang="en-US" altLang="ko-KR" dirty="0"/>
              <a:t>/ </a:t>
            </a:r>
            <a:r>
              <a:rPr lang="ko-KR" altLang="en-US" dirty="0"/>
              <a:t>주소 </a:t>
            </a:r>
            <a:r>
              <a:rPr lang="en-US" altLang="ko-KR" dirty="0"/>
              <a:t>/ </a:t>
            </a:r>
            <a:r>
              <a:rPr lang="ko-KR" altLang="en-US" dirty="0"/>
              <a:t>담당자 이름과 직책 </a:t>
            </a:r>
            <a:r>
              <a:rPr lang="en-US" altLang="ko-KR" dirty="0"/>
              <a:t>/ </a:t>
            </a:r>
            <a:r>
              <a:rPr lang="ko-KR" altLang="en-US" dirty="0"/>
              <a:t>연락처 작성하세요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5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※ </a:t>
            </a:r>
            <a:r>
              <a:rPr lang="ko-KR" altLang="en-US" sz="1400" dirty="0"/>
              <a:t>쪽페이지 삭제 주의하세요</a:t>
            </a:r>
            <a:r>
              <a:rPr lang="en-US" altLang="ko-KR" sz="14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★ 만약</a:t>
            </a:r>
            <a:r>
              <a:rPr lang="en-US" altLang="ko-KR" dirty="0"/>
              <a:t>, </a:t>
            </a:r>
            <a:r>
              <a:rPr lang="ko-KR" altLang="en-US" dirty="0"/>
              <a:t>명도 </a:t>
            </a:r>
            <a:r>
              <a:rPr lang="en-US" altLang="ko-KR" dirty="0"/>
              <a:t>‘</a:t>
            </a:r>
            <a:r>
              <a:rPr lang="ko-KR" altLang="en-US" dirty="0"/>
              <a:t>해당사항 없을 경우</a:t>
            </a:r>
            <a:r>
              <a:rPr lang="en-US" altLang="ko-KR" dirty="0"/>
              <a:t>’</a:t>
            </a:r>
            <a:r>
              <a:rPr lang="ko-KR" altLang="en-US" dirty="0"/>
              <a:t>엔 ★</a:t>
            </a: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명도 카테고리 옆에 </a:t>
            </a:r>
            <a:r>
              <a:rPr lang="en-US" altLang="ko-KR" dirty="0"/>
              <a:t>“</a:t>
            </a:r>
            <a:r>
              <a:rPr lang="ko-KR" altLang="en-US" dirty="0"/>
              <a:t>텍스트로</a:t>
            </a:r>
            <a:r>
              <a:rPr lang="en-US" altLang="ko-KR" dirty="0"/>
              <a:t>”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 err="1"/>
              <a:t>해당사항없음</a:t>
            </a:r>
            <a:r>
              <a:rPr lang="en-US" altLang="ko-KR" dirty="0"/>
              <a:t>”</a:t>
            </a:r>
            <a:r>
              <a:rPr lang="ko-KR" altLang="en-US" dirty="0"/>
              <a:t> 또는 </a:t>
            </a:r>
            <a:r>
              <a:rPr lang="en-US" altLang="ko-KR" dirty="0"/>
              <a:t>“</a:t>
            </a:r>
            <a:r>
              <a:rPr lang="ko-KR" altLang="en-US" dirty="0"/>
              <a:t>해당사항</a:t>
            </a:r>
            <a:r>
              <a:rPr lang="en-US" altLang="ko-KR" dirty="0"/>
              <a:t> X”</a:t>
            </a:r>
            <a:r>
              <a:rPr lang="ko-KR" altLang="en-US" dirty="0"/>
              <a:t> 를 빨간색으로 기재해주세요</a:t>
            </a:r>
            <a:r>
              <a:rPr lang="en-US" altLang="ko-KR" dirty="0"/>
              <a:t>!</a:t>
            </a:r>
            <a:r>
              <a:rPr lang="ko-KR" altLang="en-US" dirty="0"/>
              <a:t>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※ </a:t>
            </a:r>
            <a:r>
              <a:rPr lang="ko-KR" altLang="en-US" sz="1400" dirty="0"/>
              <a:t>쪽페이지 삭제 주의하세요</a:t>
            </a:r>
            <a:r>
              <a:rPr lang="en-US" altLang="ko-KR" sz="14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사건번호</a:t>
            </a:r>
            <a:r>
              <a:rPr lang="en-US" altLang="ko-KR" dirty="0"/>
              <a:t>~</a:t>
            </a:r>
            <a:r>
              <a:rPr lang="ko-KR" altLang="en-US" dirty="0"/>
              <a:t>청구금액 모두 입력하세요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★</a:t>
            </a:r>
            <a:r>
              <a:rPr lang="ko-KR" altLang="en-US" dirty="0" err="1"/>
              <a:t>미입력한</a:t>
            </a:r>
            <a:r>
              <a:rPr lang="ko-KR" altLang="en-US" dirty="0"/>
              <a:t> 부분은 프린트했을 때 </a:t>
            </a:r>
            <a:r>
              <a:rPr lang="en-US" altLang="ko-KR" dirty="0"/>
              <a:t>“</a:t>
            </a:r>
            <a:r>
              <a:rPr lang="ko-KR" altLang="en-US" dirty="0"/>
              <a:t>빈칸으로</a:t>
            </a:r>
            <a:r>
              <a:rPr lang="en-US" altLang="ko-KR" dirty="0"/>
              <a:t>”</a:t>
            </a:r>
            <a:r>
              <a:rPr lang="ko-KR" altLang="en-US" dirty="0"/>
              <a:t>출력됩니다★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- </a:t>
            </a:r>
            <a:r>
              <a:rPr lang="ko-KR" altLang="en-US" dirty="0"/>
              <a:t>평형부분 텍스트 지우면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xx</a:t>
            </a:r>
            <a:r>
              <a:rPr lang="ko-KR" altLang="en-US" dirty="0"/>
              <a:t>평형으로 나옴 </a:t>
            </a:r>
            <a:r>
              <a:rPr lang="en-US" altLang="ko-KR" dirty="0"/>
              <a:t>-&gt; </a:t>
            </a:r>
            <a:r>
              <a:rPr lang="ko-KR" altLang="en-US" dirty="0"/>
              <a:t>프린트 시 평형 </a:t>
            </a:r>
            <a:r>
              <a:rPr lang="ko-KR" altLang="en-US" dirty="0" err="1"/>
              <a:t>출력안됨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1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13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건축물대장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575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하단 코멘트를 활용하여 </a:t>
            </a:r>
            <a:r>
              <a:rPr lang="en-US" altLang="ko-KR" dirty="0"/>
              <a:t>1~3</a:t>
            </a:r>
            <a:r>
              <a:rPr lang="ko-KR" altLang="en-US" dirty="0"/>
              <a:t>줄 코멘트 작성하실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6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하단 코멘트를 활용하여 </a:t>
            </a:r>
            <a:r>
              <a:rPr lang="en-US" altLang="ko-KR" dirty="0"/>
              <a:t>3~5</a:t>
            </a:r>
            <a:r>
              <a:rPr lang="ko-KR" altLang="en-US" dirty="0"/>
              <a:t>줄 코멘트 작성하실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42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각각 클릭 후</a:t>
            </a:r>
            <a:r>
              <a:rPr lang="en-US" altLang="ko-KR" dirty="0"/>
              <a:t>, </a:t>
            </a:r>
            <a:r>
              <a:rPr lang="ko-KR" altLang="en-US" dirty="0"/>
              <a:t>임장사진 자료</a:t>
            </a:r>
            <a:r>
              <a:rPr lang="en-US" altLang="ko-KR" dirty="0"/>
              <a:t> </a:t>
            </a:r>
            <a:r>
              <a:rPr lang="ko-KR" altLang="en-US" dirty="0"/>
              <a:t>첨부하세요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(*</a:t>
            </a:r>
            <a:r>
              <a:rPr lang="ko-KR" altLang="en-US" dirty="0"/>
              <a:t>세로로 찍은 사진은 </a:t>
            </a:r>
            <a:r>
              <a:rPr lang="ko-KR" altLang="en-US" dirty="0" err="1"/>
              <a:t>새슬라이드</a:t>
            </a:r>
            <a:r>
              <a:rPr lang="ko-KR" altLang="en-US" dirty="0"/>
              <a:t> 생성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우클릭</a:t>
            </a:r>
            <a:r>
              <a:rPr lang="en-US" altLang="ko-KR" dirty="0"/>
              <a:t>-&gt;</a:t>
            </a:r>
            <a:r>
              <a:rPr lang="ko-KR" altLang="en-US" dirty="0"/>
              <a:t> 레이아웃</a:t>
            </a:r>
            <a:r>
              <a:rPr lang="en-US" altLang="ko-KR" dirty="0"/>
              <a:t>-&gt; </a:t>
            </a:r>
            <a:r>
              <a:rPr lang="ko-KR" altLang="en-US" dirty="0"/>
              <a:t>세로형 으로 만들어서 첨부하세요</a:t>
            </a:r>
            <a:r>
              <a:rPr lang="en-US" altLang="ko-KR" dirty="0"/>
              <a:t>.)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373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각각 클릭 후</a:t>
            </a:r>
            <a:r>
              <a:rPr lang="en-US" altLang="ko-KR" dirty="0"/>
              <a:t>, </a:t>
            </a:r>
            <a:r>
              <a:rPr lang="ko-KR" altLang="en-US" dirty="0"/>
              <a:t>임장사진 자료</a:t>
            </a:r>
            <a:r>
              <a:rPr lang="en-US" altLang="ko-KR" dirty="0"/>
              <a:t> </a:t>
            </a:r>
            <a:r>
              <a:rPr lang="ko-KR" altLang="en-US" dirty="0"/>
              <a:t>첨부하세요</a:t>
            </a:r>
            <a:r>
              <a:rPr lang="en-US" altLang="ko-KR" dirty="0"/>
              <a:t>. (</a:t>
            </a:r>
            <a:r>
              <a:rPr lang="ko-KR" altLang="en-US" dirty="0"/>
              <a:t>사진 </a:t>
            </a:r>
            <a:r>
              <a:rPr lang="ko-KR" altLang="en-US" dirty="0" err="1"/>
              <a:t>미첨부한</a:t>
            </a:r>
            <a:r>
              <a:rPr lang="ko-KR" altLang="en-US" dirty="0"/>
              <a:t> 부분은 아무것도 출력되지 않습니다</a:t>
            </a:r>
            <a:r>
              <a:rPr lang="en-US" altLang="ko-KR" dirty="0"/>
              <a:t>.)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59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056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(</a:t>
            </a:r>
            <a:r>
              <a:rPr lang="ko-KR" altLang="en-US" dirty="0"/>
              <a:t>텍스트박스 활용하셔도 좋습니다</a:t>
            </a:r>
            <a:r>
              <a:rPr lang="en-US" altLang="ko-KR" dirty="0"/>
              <a:t>.)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24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코멘트 박스 </a:t>
            </a:r>
            <a:r>
              <a:rPr lang="en-US" altLang="ko-KR" dirty="0"/>
              <a:t>2</a:t>
            </a:r>
            <a:r>
              <a:rPr lang="ko-KR" altLang="en-US" dirty="0"/>
              <a:t>개를 통해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67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코멘트 박스를 통해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45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중</a:t>
            </a:r>
            <a:r>
              <a:rPr lang="en-US" altLang="ko-KR" dirty="0"/>
              <a:t>/</a:t>
            </a:r>
            <a:r>
              <a:rPr lang="ko-KR" altLang="en-US" dirty="0"/>
              <a:t>하단 코멘트 박스를 통해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9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세부목록 카테고리를 작성하세요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826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 카테고리를 입력하세요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(</a:t>
            </a:r>
            <a:r>
              <a:rPr lang="ko-KR" altLang="en-US" dirty="0"/>
              <a:t>텍스트박스 활용하셔도 좋습니다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325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중</a:t>
            </a:r>
            <a:r>
              <a:rPr lang="en-US" altLang="ko-KR" dirty="0"/>
              <a:t>/</a:t>
            </a:r>
            <a:r>
              <a:rPr lang="ko-KR" altLang="en-US" dirty="0"/>
              <a:t>하단 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74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코멘트 박스 </a:t>
            </a:r>
            <a:r>
              <a:rPr lang="en-US" altLang="ko-KR" dirty="0"/>
              <a:t>2</a:t>
            </a:r>
            <a:r>
              <a:rPr lang="ko-KR" altLang="en-US" dirty="0"/>
              <a:t>종을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451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</a:t>
            </a:r>
            <a:r>
              <a:rPr lang="en-US" altLang="ko-KR" dirty="0"/>
              <a:t>TIP </a:t>
            </a:r>
            <a:r>
              <a:rPr lang="ko-KR" altLang="en-US" dirty="0"/>
              <a:t>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195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</a:t>
            </a:r>
            <a:r>
              <a:rPr lang="en-US" altLang="ko-KR" dirty="0"/>
              <a:t>TIP </a:t>
            </a:r>
            <a:r>
              <a:rPr lang="ko-KR" altLang="en-US" dirty="0"/>
              <a:t>코멘트 박스를 통해 </a:t>
            </a:r>
            <a:r>
              <a:rPr lang="en-US" altLang="ko-KR" dirty="0"/>
              <a:t>3~5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323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주의</a:t>
            </a: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코멘트 박스를 통해 </a:t>
            </a:r>
            <a:r>
              <a:rPr lang="en-US" altLang="ko-KR" dirty="0"/>
              <a:t>2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214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세부목록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  <a:r>
              <a:rPr lang="ko-KR" altLang="en-US" dirty="0"/>
              <a:t>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캡처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</a:t>
            </a:r>
            <a:r>
              <a:rPr lang="ko-KR" altLang="en-US" dirty="0"/>
              <a:t> 하세요</a:t>
            </a:r>
            <a:r>
              <a:rPr lang="en-US" altLang="ko-KR" dirty="0"/>
              <a:t>.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하단 주의</a:t>
            </a:r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코멘트 박스를 통해 </a:t>
            </a:r>
            <a:r>
              <a:rPr lang="en-US" altLang="ko-KR" dirty="0"/>
              <a:t>3~5</a:t>
            </a:r>
            <a:r>
              <a:rPr lang="ko-KR" altLang="en-US" dirty="0"/>
              <a:t>줄까지 코멘트 활용 가능합니다</a:t>
            </a:r>
            <a:r>
              <a:rPr lang="en-US" altLang="ko-KR" dirty="0"/>
              <a:t>.)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폰트변경은 안되나</a:t>
            </a:r>
            <a:r>
              <a:rPr lang="en-US" altLang="ko-KR" dirty="0"/>
              <a:t>, </a:t>
            </a:r>
            <a:r>
              <a:rPr lang="ko-KR" altLang="en-US" dirty="0"/>
              <a:t>사이즈 변경 및 색상변경은 자유롭게 하세요</a:t>
            </a:r>
            <a:r>
              <a:rPr lang="en-US" altLang="ko-KR" dirty="0"/>
              <a:t>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556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 err="1"/>
              <a:t>세부목차는</a:t>
            </a:r>
            <a:r>
              <a:rPr lang="ko-KR" altLang="en-US" dirty="0"/>
              <a:t> </a:t>
            </a:r>
            <a:r>
              <a:rPr lang="ko-KR" altLang="en-US" dirty="0" err="1"/>
              <a:t>고정값이므로</a:t>
            </a:r>
            <a:r>
              <a:rPr lang="en-US" altLang="ko-KR" dirty="0"/>
              <a:t>, </a:t>
            </a:r>
            <a:r>
              <a:rPr lang="ko-KR" altLang="en-US" dirty="0"/>
              <a:t>필수 입력하세요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0688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171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626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36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78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텍스트 작성하세요</a:t>
            </a:r>
            <a:r>
              <a:rPr lang="en-US" altLang="ko-KR" dirty="0"/>
              <a:t>. (</a:t>
            </a:r>
            <a:r>
              <a:rPr lang="ko-KR" altLang="en-US" dirty="0"/>
              <a:t>세부목록 당 한페이지 입니다</a:t>
            </a:r>
            <a:r>
              <a:rPr lang="en-US" altLang="ko-KR" dirty="0"/>
              <a:t>.)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1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※ </a:t>
            </a:r>
            <a:r>
              <a:rPr lang="ko-KR" altLang="en-US" sz="1200" dirty="0"/>
              <a:t>쪽페이지 삭제 주의하세요</a:t>
            </a:r>
            <a:r>
              <a:rPr lang="en-US" altLang="ko-KR" sz="12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★★★ 중요 ★★★</a:t>
            </a:r>
            <a:endParaRPr lang="en-US" altLang="ko-KR" sz="12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※</a:t>
            </a:r>
            <a:r>
              <a:rPr lang="ko-KR" altLang="en-US" sz="1200" dirty="0"/>
              <a:t> 취득세 및 대출에 대한 자료 입력 해주세요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405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※ </a:t>
            </a:r>
            <a:r>
              <a:rPr lang="ko-KR" altLang="en-US" sz="1400" dirty="0"/>
              <a:t>쪽페이지 삭제 주의하세요</a:t>
            </a:r>
            <a:r>
              <a:rPr lang="en-US" altLang="ko-KR" sz="14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/>
              <a:t>★★★ 중요 ★★★</a:t>
            </a:r>
            <a:endParaRPr lang="en-US" altLang="ko-KR" sz="14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※</a:t>
            </a:r>
            <a:r>
              <a:rPr lang="ko-KR" altLang="en-US" sz="1400" dirty="0"/>
              <a:t> 엑셀에서 드래그 복사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Ctrl+C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우클릭</a:t>
            </a:r>
            <a:r>
              <a:rPr lang="en-US" altLang="ko-KR" sz="1400" dirty="0"/>
              <a:t>-&gt; 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/>
              <a:t>붙여넣기 </a:t>
            </a:r>
            <a:r>
              <a:rPr lang="en-US" altLang="ko-KR" sz="1400" dirty="0"/>
              <a:t>4</a:t>
            </a:r>
            <a:r>
              <a:rPr lang="ko-KR" altLang="en-US" sz="1400" dirty="0"/>
              <a:t>번째 그림 클릭하시고 크기조절 하세요</a:t>
            </a:r>
            <a:r>
              <a:rPr lang="en-US" altLang="ko-KR" sz="1400" dirty="0"/>
              <a:t>!</a:t>
            </a:r>
            <a:br>
              <a:rPr lang="en-US" altLang="ko-KR" sz="1400" dirty="0"/>
            </a:br>
            <a:endParaRPr lang="en-US" altLang="ko-KR" sz="14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/>
              <a:t>추가적으로 텍스트 작성을 희망하시면 하단에 텍스트박스 삽입 후 입력 가능합니다</a:t>
            </a:r>
            <a:r>
              <a:rPr lang="en-US" altLang="ko-KR" sz="1400" dirty="0"/>
              <a:t>!!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1570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/>
              <a:t>※ </a:t>
            </a:r>
            <a:r>
              <a:rPr lang="ko-KR" altLang="en-US" sz="1600" dirty="0"/>
              <a:t>쪽페이지 삭제 주의하세요</a:t>
            </a:r>
            <a:r>
              <a:rPr lang="en-US" altLang="ko-KR" sz="1600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sz="1600" dirty="0"/>
            </a:br>
            <a:r>
              <a:rPr lang="ko-KR" altLang="en-US" sz="1600" dirty="0"/>
              <a:t>★★★ 중요 ★★★</a:t>
            </a:r>
            <a:endParaRPr lang="en-US" altLang="ko-KR" sz="1600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/>
              <a:t>※</a:t>
            </a:r>
            <a:r>
              <a:rPr lang="ko-KR" altLang="en-US" sz="1600" dirty="0"/>
              <a:t> 엑셀에서 드래그 복사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Ctrl+C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우클릭</a:t>
            </a:r>
            <a:r>
              <a:rPr lang="en-US" altLang="ko-KR" sz="1600" dirty="0"/>
              <a:t>-&gt; </a:t>
            </a:r>
            <a:r>
              <a:rPr lang="ko-KR" altLang="en-US" sz="1600" dirty="0"/>
              <a:t>붙여넣기 </a:t>
            </a:r>
            <a:r>
              <a:rPr lang="en-US" altLang="ko-KR" sz="1600" dirty="0"/>
              <a:t>4</a:t>
            </a:r>
            <a:r>
              <a:rPr lang="ko-KR" altLang="en-US" sz="1600" dirty="0"/>
              <a:t>번째 그림 클릭하시고 크기조절 하세요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4886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5558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 err="1"/>
              <a:t>명도정액제</a:t>
            </a:r>
            <a:r>
              <a:rPr lang="ko-KR" altLang="en-US" dirty="0"/>
              <a:t> 비용과 명도실비제 비용을 입력해주세요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7389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엑셀에서 강제집행비용계산표 드래그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우클릭</a:t>
            </a:r>
            <a:r>
              <a:rPr lang="en-US" altLang="ko-KR" dirty="0"/>
              <a:t>-&gt; </a:t>
            </a:r>
            <a:r>
              <a:rPr lang="ko-KR" altLang="en-US" dirty="0"/>
              <a:t>붙여넣기 </a:t>
            </a:r>
            <a:r>
              <a:rPr lang="en-US" altLang="ko-KR" dirty="0"/>
              <a:t>4</a:t>
            </a:r>
            <a:r>
              <a:rPr lang="ko-KR" altLang="en-US" dirty="0"/>
              <a:t>번째 그림 클릭하시고 크기조절 하세요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ko-KR" altLang="en-US" dirty="0"/>
              <a:t>★ 만약</a:t>
            </a:r>
            <a:r>
              <a:rPr lang="en-US" altLang="ko-KR" dirty="0"/>
              <a:t>, </a:t>
            </a:r>
            <a:r>
              <a:rPr lang="ko-KR" altLang="en-US" dirty="0"/>
              <a:t>명도 </a:t>
            </a:r>
            <a:r>
              <a:rPr lang="en-US" altLang="ko-KR" dirty="0"/>
              <a:t>‘</a:t>
            </a:r>
            <a:r>
              <a:rPr lang="ko-KR" altLang="en-US" dirty="0"/>
              <a:t>해당사항 없을 경우</a:t>
            </a:r>
            <a:r>
              <a:rPr lang="en-US" altLang="ko-KR" dirty="0"/>
              <a:t>’</a:t>
            </a:r>
            <a:r>
              <a:rPr lang="ko-KR" altLang="en-US" dirty="0"/>
              <a:t>엔 ★</a:t>
            </a:r>
            <a:br>
              <a:rPr lang="en-US" altLang="ko-KR" dirty="0"/>
            </a:br>
            <a:r>
              <a:rPr lang="ko-KR" altLang="en-US" dirty="0"/>
              <a:t>강제집행 예상비용표 안에 이미지 대신</a:t>
            </a: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</a:t>
            </a:r>
            <a:r>
              <a:rPr lang="ko-KR" altLang="en-US" dirty="0"/>
              <a:t>텍스트</a:t>
            </a:r>
            <a:r>
              <a:rPr lang="en-US" altLang="ko-KR" dirty="0"/>
              <a:t>”</a:t>
            </a:r>
            <a:r>
              <a:rPr lang="ko-KR" altLang="en-US" dirty="0"/>
              <a:t>로 </a:t>
            </a:r>
            <a:r>
              <a:rPr lang="en-US" altLang="ko-KR" dirty="0"/>
              <a:t>“</a:t>
            </a:r>
            <a:r>
              <a:rPr lang="ko-KR" altLang="en-US" dirty="0" err="1"/>
              <a:t>해당사항없음</a:t>
            </a:r>
            <a:r>
              <a:rPr lang="ko-KR" altLang="en-US" dirty="0"/>
              <a:t> 또는 해당사항</a:t>
            </a:r>
            <a:r>
              <a:rPr lang="en-US" altLang="ko-KR" dirty="0"/>
              <a:t> X”</a:t>
            </a:r>
            <a:r>
              <a:rPr lang="ko-KR" altLang="en-US" dirty="0"/>
              <a:t> 을 빨간색으로 기재해주세요</a:t>
            </a:r>
            <a:r>
              <a:rPr lang="en-US" altLang="ko-KR" dirty="0"/>
              <a:t>!</a:t>
            </a:r>
            <a:r>
              <a:rPr lang="ko-KR" altLang="en-US" dirty="0"/>
              <a:t>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343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204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※</a:t>
            </a:r>
            <a:r>
              <a:rPr lang="ko-KR" altLang="en-US" dirty="0"/>
              <a:t> 입찰보증금</a:t>
            </a:r>
            <a:r>
              <a:rPr lang="en-US" altLang="ko-KR" dirty="0"/>
              <a:t>, </a:t>
            </a:r>
            <a:r>
              <a:rPr lang="ko-KR" altLang="en-US" dirty="0"/>
              <a:t>입찰일</a:t>
            </a:r>
            <a:r>
              <a:rPr lang="en-US" altLang="ko-KR" dirty="0"/>
              <a:t>/</a:t>
            </a:r>
            <a:r>
              <a:rPr lang="ko-KR" altLang="en-US" dirty="0"/>
              <a:t>시작시간</a:t>
            </a:r>
            <a:r>
              <a:rPr lang="en-US" altLang="ko-KR" dirty="0"/>
              <a:t>/</a:t>
            </a:r>
            <a:r>
              <a:rPr lang="ko-KR" altLang="en-US" dirty="0"/>
              <a:t>마감시간 입력하세요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5138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en-US" altLang="ko-KR" dirty="0"/>
              <a:t>※</a:t>
            </a:r>
            <a:r>
              <a:rPr lang="ko-KR" altLang="en-US" dirty="0"/>
              <a:t> 법원정보 </a:t>
            </a:r>
            <a:r>
              <a:rPr lang="en-US" altLang="ko-KR" dirty="0"/>
              <a:t>“</a:t>
            </a:r>
            <a:r>
              <a:rPr lang="ko-KR" altLang="en-US" dirty="0"/>
              <a:t>입찰서 접수시간</a:t>
            </a:r>
            <a:r>
              <a:rPr lang="en-US" altLang="ko-KR" dirty="0"/>
              <a:t>”</a:t>
            </a:r>
            <a:r>
              <a:rPr lang="ko-KR" altLang="en-US" dirty="0"/>
              <a:t>까지만</a:t>
            </a:r>
            <a:r>
              <a:rPr lang="en-US" altLang="ko-KR" dirty="0"/>
              <a:t> </a:t>
            </a:r>
            <a:r>
              <a:rPr lang="ko-KR" altLang="en-US" dirty="0"/>
              <a:t>캡쳐 후 복사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), </a:t>
            </a:r>
            <a:r>
              <a:rPr lang="ko-KR" altLang="en-US" dirty="0"/>
              <a:t>붙여넣기</a:t>
            </a:r>
            <a:r>
              <a:rPr lang="en-US" altLang="ko-KR" dirty="0"/>
              <a:t>(</a:t>
            </a:r>
            <a:r>
              <a:rPr lang="en-US" altLang="ko-KR" dirty="0" err="1"/>
              <a:t>Ctrl+V</a:t>
            </a:r>
            <a:r>
              <a:rPr lang="en-US" altLang="ko-KR" dirty="0"/>
              <a:t>) </a:t>
            </a:r>
            <a:r>
              <a:rPr lang="ko-KR" altLang="en-US" dirty="0"/>
              <a:t>하세요</a:t>
            </a:r>
            <a:r>
              <a:rPr lang="en-US" altLang="ko-KR" dirty="0"/>
              <a:t>.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도형에서 사각형</a:t>
            </a:r>
            <a:r>
              <a:rPr lang="en-US" altLang="ko-KR" dirty="0"/>
              <a:t>/</a:t>
            </a:r>
            <a:r>
              <a:rPr lang="ko-KR" altLang="en-US" dirty="0"/>
              <a:t>원형</a:t>
            </a:r>
            <a:r>
              <a:rPr lang="en-US" altLang="ko-KR" dirty="0"/>
              <a:t>/</a:t>
            </a:r>
            <a:r>
              <a:rPr lang="ko-KR" altLang="en-US" dirty="0"/>
              <a:t>화살표</a:t>
            </a:r>
            <a:r>
              <a:rPr lang="en-US" altLang="ko-KR" dirty="0"/>
              <a:t>/</a:t>
            </a:r>
            <a:r>
              <a:rPr lang="ko-KR" altLang="en-US" dirty="0"/>
              <a:t>선 도형 활용하셔도 좋습니다</a:t>
            </a:r>
            <a:r>
              <a:rPr lang="en-US" altLang="ko-KR" dirty="0"/>
              <a:t>. (*</a:t>
            </a:r>
            <a:r>
              <a:rPr lang="ko-KR" altLang="en-US" dirty="0" err="1"/>
              <a:t>빨간테두리</a:t>
            </a:r>
            <a:r>
              <a:rPr lang="ko-KR" altLang="en-US" dirty="0"/>
              <a:t> 기본값 적용됨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9644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 </a:t>
            </a:r>
            <a:r>
              <a:rPr lang="ko-KR" altLang="en-US" dirty="0"/>
              <a:t>쪽페이지 삭제 주의하세요</a:t>
            </a:r>
            <a:r>
              <a:rPr lang="en-US" altLang="ko-KR" dirty="0"/>
              <a:t>!!</a:t>
            </a:r>
          </a:p>
          <a:p>
            <a:pPr marL="0" marR="0" lvl="0" indent="0" algn="ctr" defTabSz="99550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※</a:t>
            </a:r>
            <a:r>
              <a:rPr lang="ko-KR" altLang="en-US" dirty="0"/>
              <a:t> 해당 슬라이드는 수정할 부분이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011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412F5-7EDD-4F07-896F-1DB4725C0D8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8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-메인표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EFC427A-F0EE-4DC0-8C7C-B25F801A1F13}"/>
              </a:ext>
            </a:extLst>
          </p:cNvPr>
          <p:cNvSpPr>
            <a:spLocks noGrp="1" noChangeAspect="1"/>
          </p:cNvSpPr>
          <p:nvPr>
            <p:ph type="body" sz="quarter" idx="10" hasCustomPrompt="1"/>
          </p:nvPr>
        </p:nvSpPr>
        <p:spPr>
          <a:xfrm>
            <a:off x="1903130" y="5786247"/>
            <a:ext cx="7884159" cy="8067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508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사건 경매물건 주소를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03127" y="5027685"/>
            <a:ext cx="7884160" cy="314857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l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50800" dir="2700000" algn="tl" rotWithShape="0">
                    <a:schemeClr val="bg1">
                      <a:alpha val="5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의정부지방법원 경매</a:t>
            </a:r>
            <a:r>
              <a:rPr lang="en-US" altLang="ko-KR" dirty="0"/>
              <a:t> 9</a:t>
            </a:r>
            <a:r>
              <a:rPr lang="ko-KR" altLang="en-US" dirty="0"/>
              <a:t>계</a:t>
            </a:r>
            <a:endParaRPr lang="en-US" dirty="0"/>
          </a:p>
        </p:txBody>
      </p:sp>
      <p:sp>
        <p:nvSpPr>
          <p:cNvPr id="29" name="텍스트 개체 틀 24">
            <a:extLst>
              <a:ext uri="{FF2B5EF4-FFF2-40B4-BE49-F238E27FC236}">
                <a16:creationId xmlns:a16="http://schemas.microsoft.com/office/drawing/2014/main" id="{2FBDD902-F4B5-4680-A7EF-B6CC3322AE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7092" y="6779364"/>
            <a:ext cx="1679787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 err="1"/>
              <a:t>ㅇㅇㅇ</a:t>
            </a:r>
            <a:r>
              <a:rPr lang="ko-KR" altLang="en-US" dirty="0"/>
              <a:t> 직책</a:t>
            </a:r>
          </a:p>
        </p:txBody>
      </p:sp>
      <p:sp>
        <p:nvSpPr>
          <p:cNvPr id="30" name="텍스트 개체 틀 24">
            <a:extLst>
              <a:ext uri="{FF2B5EF4-FFF2-40B4-BE49-F238E27FC236}">
                <a16:creationId xmlns:a16="http://schemas.microsoft.com/office/drawing/2014/main" id="{88D34201-795D-4006-8B07-30B381EAB8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63098" y="6779363"/>
            <a:ext cx="2828715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010 – 0000 - 0000</a:t>
            </a:r>
            <a:endParaRPr lang="ko-KR" altLang="en-US" dirty="0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65F8165B-0CB0-48C5-8424-F5FC666781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6030" y="582907"/>
            <a:ext cx="2332989" cy="265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고객명을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BA06DD4-F0DE-4B81-B4B2-419ACDB2CF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3095" y="5342542"/>
            <a:ext cx="7883525" cy="3816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500" b="0" i="0">
                <a:solidFill>
                  <a:schemeClr val="accent2"/>
                </a:solidFill>
                <a:effectLst>
                  <a:outerShdw blurRad="38100" dist="508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사건번호 </a:t>
            </a:r>
            <a:r>
              <a:rPr lang="en-US" altLang="ko-KR" dirty="0"/>
              <a:t>2029</a:t>
            </a:r>
            <a:r>
              <a:rPr lang="ko-KR" altLang="en-US" dirty="0" err="1"/>
              <a:t>타경</a:t>
            </a:r>
            <a:r>
              <a:rPr lang="ko-KR" altLang="en-US" dirty="0"/>
              <a:t> </a:t>
            </a:r>
            <a:r>
              <a:rPr lang="en-US" altLang="ko-KR" dirty="0"/>
              <a:t>999999 [</a:t>
            </a:r>
            <a:r>
              <a:rPr lang="ko-KR" altLang="en-US" dirty="0"/>
              <a:t>다세대</a:t>
            </a:r>
            <a:r>
              <a:rPr lang="en-US" altLang="ko-KR" dirty="0"/>
              <a:t>(</a:t>
            </a:r>
            <a:r>
              <a:rPr lang="ko-KR" altLang="en-US" dirty="0"/>
              <a:t>빌라</a:t>
            </a:r>
            <a:r>
              <a:rPr lang="en-US" altLang="ko-KR" dirty="0"/>
              <a:t>)]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83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-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2F18B8-311A-4319-8F8D-53EC4E1E1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43843CD0-3C51-4E29-BC2A-82B736BD09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42394092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3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물건개요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31F9C72-CAB0-4DA1-8E9C-5C42B743AA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7982" y="1494048"/>
            <a:ext cx="4873776" cy="54858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 algn="ctr">
              <a:buNone/>
              <a:defRPr sz="2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이곳에 물건사진을 첨부하세요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사건페이지내 물건사진 캡쳐 후</a:t>
            </a:r>
            <a:endParaRPr lang="en-US" altLang="ko-KR" dirty="0"/>
          </a:p>
          <a:p>
            <a:r>
              <a:rPr lang="ko-KR" altLang="en-US" dirty="0"/>
              <a:t>첨부해도 좋습니다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5584F3D5-50F0-4661-9EB7-0D3F7ACC2330}"/>
              </a:ext>
            </a:extLst>
          </p:cNvPr>
          <p:cNvSpPr/>
          <p:nvPr userDrawn="1"/>
        </p:nvSpPr>
        <p:spPr>
          <a:xfrm>
            <a:off x="5231758" y="3876040"/>
            <a:ext cx="604003" cy="490421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F9AB29C-EE57-48A8-818E-20D7BC2A3D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66686842"/>
              </p:ext>
            </p:extLst>
          </p:nvPr>
        </p:nvGraphicFramePr>
        <p:xfrm>
          <a:off x="5786815" y="1494048"/>
          <a:ext cx="4191969" cy="54858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45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99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사건번호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8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소재지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토지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지역</a:t>
                      </a:r>
                      <a:r>
                        <a:rPr lang="en-US" altLang="ko-KR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지구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2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건물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88794" marR="88794" marT="44397" marB="443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물건종류</a:t>
                      </a: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토지 총면적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       ㎡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건물 총면적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       ㎡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 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구조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규모</a:t>
                      </a:r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3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입찰기일</a:t>
                      </a: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32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금액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감정가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83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2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최저가 </a:t>
                      </a:r>
                      <a:r>
                        <a:rPr lang="ko-KR" altLang="en-US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↓</a:t>
                      </a:r>
                      <a:endParaRPr lang="ko-KR" alt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dirty="0">
                        <a:solidFill>
                          <a:schemeClr val="accent2"/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98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2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입찰보증금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98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청구금액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88794" marR="88794" marT="44397" marB="4439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683274"/>
                  </a:ext>
                </a:extLst>
              </a:tr>
            </a:tbl>
          </a:graphicData>
        </a:graphic>
      </p:graphicFrame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C58C7DF2-EBDF-4338-912F-B3A4932EDD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0387" y="1492888"/>
            <a:ext cx="2568398" cy="3503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2029 </a:t>
            </a:r>
            <a:r>
              <a:rPr lang="ko-KR" altLang="en-US" dirty="0" err="1"/>
              <a:t>타경</a:t>
            </a:r>
            <a:r>
              <a:rPr lang="ko-KR" altLang="en-US" dirty="0"/>
              <a:t> </a:t>
            </a:r>
            <a:r>
              <a:rPr lang="en-US" altLang="ko-KR" dirty="0"/>
              <a:t>999999 [</a:t>
            </a:r>
            <a:r>
              <a:rPr lang="ko-KR" altLang="en-US" dirty="0"/>
              <a:t>아파트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0" name="텍스트 개체 틀 28">
            <a:extLst>
              <a:ext uri="{FF2B5EF4-FFF2-40B4-BE49-F238E27FC236}">
                <a16:creationId xmlns:a16="http://schemas.microsoft.com/office/drawing/2014/main" id="{02A5D6CB-30B2-493D-9977-374B19B757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0388" y="4845573"/>
            <a:ext cx="2568400" cy="413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2099-12-31</a:t>
            </a:r>
            <a:endParaRPr lang="ko-KR" altLang="en-US" dirty="0"/>
          </a:p>
        </p:txBody>
      </p:sp>
      <p:sp>
        <p:nvSpPr>
          <p:cNvPr id="31" name="텍스트 개체 틀 28">
            <a:extLst>
              <a:ext uri="{FF2B5EF4-FFF2-40B4-BE49-F238E27FC236}">
                <a16:creationId xmlns:a16="http://schemas.microsoft.com/office/drawing/2014/main" id="{2404810C-0AD4-4AE7-9355-04A890A91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0388" y="5261858"/>
            <a:ext cx="2568400" cy="41119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10,000,000,000 </a:t>
            </a:r>
            <a:r>
              <a:rPr lang="ko-KR" altLang="en-US" dirty="0"/>
              <a:t>원</a:t>
            </a:r>
          </a:p>
        </p:txBody>
      </p:sp>
      <p:sp>
        <p:nvSpPr>
          <p:cNvPr id="32" name="텍스트 개체 틀 28">
            <a:extLst>
              <a:ext uri="{FF2B5EF4-FFF2-40B4-BE49-F238E27FC236}">
                <a16:creationId xmlns:a16="http://schemas.microsoft.com/office/drawing/2014/main" id="{A71D81AB-BDEE-4729-B17F-80D0FEADB9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0388" y="6107430"/>
            <a:ext cx="2568398" cy="4343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9,000,000,000 </a:t>
            </a:r>
            <a:r>
              <a:rPr lang="ko-KR" altLang="en-US" dirty="0"/>
              <a:t>원</a:t>
            </a:r>
          </a:p>
        </p:txBody>
      </p:sp>
      <p:sp>
        <p:nvSpPr>
          <p:cNvPr id="33" name="텍스트 개체 틀 28">
            <a:extLst>
              <a:ext uri="{FF2B5EF4-FFF2-40B4-BE49-F238E27FC236}">
                <a16:creationId xmlns:a16="http://schemas.microsoft.com/office/drawing/2014/main" id="{751CE1B4-4548-46AF-B593-8D700EC261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388" y="5673047"/>
            <a:ext cx="2568400" cy="43438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9,999,999,999 </a:t>
            </a:r>
            <a:r>
              <a:rPr lang="ko-KR" altLang="en-US" dirty="0"/>
              <a:t>원</a:t>
            </a:r>
          </a:p>
        </p:txBody>
      </p:sp>
      <p:sp>
        <p:nvSpPr>
          <p:cNvPr id="34" name="텍스트 개체 틀 28">
            <a:extLst>
              <a:ext uri="{FF2B5EF4-FFF2-40B4-BE49-F238E27FC236}">
                <a16:creationId xmlns:a16="http://schemas.microsoft.com/office/drawing/2014/main" id="{5E1122E6-CDB1-43BF-B31F-53C55C0581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10387" y="4435092"/>
            <a:ext cx="2568400" cy="41048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지하 </a:t>
            </a:r>
            <a:r>
              <a:rPr lang="en-US" altLang="ko-KR" dirty="0"/>
              <a:t>6</a:t>
            </a:r>
            <a:r>
              <a:rPr lang="ko-KR" altLang="en-US" dirty="0"/>
              <a:t>층 </a:t>
            </a:r>
            <a:r>
              <a:rPr lang="en-US" altLang="ko-KR" dirty="0"/>
              <a:t>~ </a:t>
            </a:r>
            <a:r>
              <a:rPr lang="ko-KR" altLang="en-US" dirty="0"/>
              <a:t>지상 </a:t>
            </a:r>
            <a:r>
              <a:rPr lang="en-US" altLang="ko-KR" dirty="0"/>
              <a:t>39</a:t>
            </a:r>
            <a:r>
              <a:rPr lang="ko-KR" altLang="en-US" dirty="0"/>
              <a:t>층</a:t>
            </a:r>
          </a:p>
        </p:txBody>
      </p:sp>
      <p:sp>
        <p:nvSpPr>
          <p:cNvPr id="35" name="텍스트 개체 틀 28">
            <a:extLst>
              <a:ext uri="{FF2B5EF4-FFF2-40B4-BE49-F238E27FC236}">
                <a16:creationId xmlns:a16="http://schemas.microsoft.com/office/drawing/2014/main" id="{71754B44-08B0-48DD-98B4-ED1716DE96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387" y="4018099"/>
            <a:ext cx="2568400" cy="41365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철근 콘크리트 </a:t>
            </a:r>
            <a:r>
              <a:rPr lang="ko-KR" altLang="en-US" dirty="0" err="1"/>
              <a:t>벽조</a:t>
            </a:r>
            <a:endParaRPr lang="ko-KR" altLang="en-US" dirty="0"/>
          </a:p>
        </p:txBody>
      </p:sp>
      <p:sp>
        <p:nvSpPr>
          <p:cNvPr id="36" name="텍스트 개체 틀 28">
            <a:extLst>
              <a:ext uri="{FF2B5EF4-FFF2-40B4-BE49-F238E27FC236}">
                <a16:creationId xmlns:a16="http://schemas.microsoft.com/office/drawing/2014/main" id="{76C59235-FED6-46EF-BBF9-494638B768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387" y="2362021"/>
            <a:ext cx="2568398" cy="41003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계획관리지역 </a:t>
            </a:r>
            <a:r>
              <a:rPr lang="en-US" altLang="ko-KR" dirty="0"/>
              <a:t>/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종일반주거지역</a:t>
            </a:r>
          </a:p>
        </p:txBody>
      </p:sp>
      <p:sp>
        <p:nvSpPr>
          <p:cNvPr id="37" name="텍스트 개체 틀 28">
            <a:extLst>
              <a:ext uri="{FF2B5EF4-FFF2-40B4-BE49-F238E27FC236}">
                <a16:creationId xmlns:a16="http://schemas.microsoft.com/office/drawing/2014/main" id="{0A79537E-0D56-4EEA-BE23-2DFE2E5378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10387" y="1837465"/>
            <a:ext cx="2568394" cy="5212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경기도 의정부시 </a:t>
            </a:r>
            <a:r>
              <a:rPr lang="ko-KR" altLang="en-US" dirty="0" err="1"/>
              <a:t>녹양로</a:t>
            </a:r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38" name="텍스트 개체 틀 28">
            <a:extLst>
              <a:ext uri="{FF2B5EF4-FFF2-40B4-BE49-F238E27FC236}">
                <a16:creationId xmlns:a16="http://schemas.microsoft.com/office/drawing/2014/main" id="{CF0A9764-F609-4AA8-AC3D-39185D621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10386" y="2775397"/>
            <a:ext cx="2568398" cy="4152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아파트</a:t>
            </a:r>
          </a:p>
        </p:txBody>
      </p:sp>
      <p:sp>
        <p:nvSpPr>
          <p:cNvPr id="41" name="텍스트 개체 틀 28">
            <a:extLst>
              <a:ext uri="{FF2B5EF4-FFF2-40B4-BE49-F238E27FC236}">
                <a16:creationId xmlns:a16="http://schemas.microsoft.com/office/drawing/2014/main" id="{5BC2AC06-6567-45F1-A5C9-4B04F09025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0384" y="3188773"/>
            <a:ext cx="758255" cy="40413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43" name="텍스트 개체 틀 28">
            <a:extLst>
              <a:ext uri="{FF2B5EF4-FFF2-40B4-BE49-F238E27FC236}">
                <a16:creationId xmlns:a16="http://schemas.microsoft.com/office/drawing/2014/main" id="{341CD943-9C6C-43D9-A004-405787782C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8066" y="3192906"/>
            <a:ext cx="957492" cy="40662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77B69D6-56AD-400C-A0BB-E7988391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22" name="표 8">
            <a:extLst>
              <a:ext uri="{FF2B5EF4-FFF2-40B4-BE49-F238E27FC236}">
                <a16:creationId xmlns:a16="http://schemas.microsoft.com/office/drawing/2014/main" id="{E34AC007-F93C-4D9B-87AD-442CD5F4D6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2051331"/>
              </p:ext>
            </p:extLst>
          </p:nvPr>
        </p:nvGraphicFramePr>
        <p:xfrm>
          <a:off x="328078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사건 기본정보 및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66132CCC-79E9-468D-AB22-703EF7C78D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10386" y="6545535"/>
            <a:ext cx="2568398" cy="43438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10,000,000,000 </a:t>
            </a:r>
            <a:r>
              <a:rPr lang="ko-KR" altLang="en-US" dirty="0"/>
              <a:t>원</a:t>
            </a:r>
          </a:p>
        </p:txBody>
      </p:sp>
      <p:sp>
        <p:nvSpPr>
          <p:cNvPr id="26" name="텍스트 개체 틀 28">
            <a:extLst>
              <a:ext uri="{FF2B5EF4-FFF2-40B4-BE49-F238E27FC236}">
                <a16:creationId xmlns:a16="http://schemas.microsoft.com/office/drawing/2014/main" id="{2E577C37-C9D6-45BD-A778-BD96C8CA62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10383" y="3611684"/>
            <a:ext cx="758255" cy="40413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sp>
        <p:nvSpPr>
          <p:cNvPr id="28" name="텍스트 개체 틀 28">
            <a:extLst>
              <a:ext uri="{FF2B5EF4-FFF2-40B4-BE49-F238E27FC236}">
                <a16:creationId xmlns:a16="http://schemas.microsoft.com/office/drawing/2014/main" id="{89E5F569-03B5-44A3-89AD-5FB6844A3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8062" y="3606217"/>
            <a:ext cx="957492" cy="40662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99.99</a:t>
            </a:r>
            <a:endParaRPr lang="ko-KR" altLang="en-US" dirty="0"/>
          </a:p>
        </p:txBody>
      </p:sp>
      <p:graphicFrame>
        <p:nvGraphicFramePr>
          <p:cNvPr id="40" name="표 2">
            <a:extLst>
              <a:ext uri="{FF2B5EF4-FFF2-40B4-BE49-F238E27FC236}">
                <a16:creationId xmlns:a16="http://schemas.microsoft.com/office/drawing/2014/main" id="{5F4C469B-4755-424F-8FE9-43B8D3D5412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24" name="텍스트 개체 틀 28">
            <a:extLst>
              <a:ext uri="{FF2B5EF4-FFF2-40B4-BE49-F238E27FC236}">
                <a16:creationId xmlns:a16="http://schemas.microsoft.com/office/drawing/2014/main" id="{47991D2B-3E00-4B8C-A6C7-621EE47B24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8191" y="5658649"/>
            <a:ext cx="962789" cy="46317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sz="1000" b="1" i="0" u="none" strike="noStrike" dirty="0">
                <a:solidFill>
                  <a:schemeClr val="accent2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예</a:t>
            </a:r>
            <a:r>
              <a:rPr lang="en-US" altLang="ko-KR" sz="1000" b="1" i="0" u="none" strike="noStrike" dirty="0">
                <a:solidFill>
                  <a:schemeClr val="accent2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70%</a:t>
            </a:r>
            <a:endParaRPr lang="ko-KR" altLang="en-US" dirty="0"/>
          </a:p>
        </p:txBody>
      </p:sp>
      <p:sp>
        <p:nvSpPr>
          <p:cNvPr id="39" name="텍스트 개체 틀 28">
            <a:extLst>
              <a:ext uri="{FF2B5EF4-FFF2-40B4-BE49-F238E27FC236}">
                <a16:creationId xmlns:a16="http://schemas.microsoft.com/office/drawing/2014/main" id="{CAA4A559-D314-4B25-B17E-050B48FAEB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5043" y="3606217"/>
            <a:ext cx="990636" cy="4343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000">
                <a:solidFill>
                  <a:schemeClr val="accent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[xx</a:t>
            </a:r>
            <a:r>
              <a:rPr lang="ko-KR" altLang="en-US" dirty="0"/>
              <a:t>평형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55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2) 물건현황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84C134-8EBF-415C-ADBF-60A1EA6A5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4B6E1F39-28D0-405A-BB44-E7D8B071945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5" name="텍스트 개체 틀 5">
            <a:extLst>
              <a:ext uri="{FF2B5EF4-FFF2-40B4-BE49-F238E27FC236}">
                <a16:creationId xmlns:a16="http://schemas.microsoft.com/office/drawing/2014/main" id="{2CA932A3-E336-4AEE-A84D-A9599C6C45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21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931336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n w="22225">
                  <a:noFill/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(1) </a:t>
            </a:r>
            <a:r>
              <a:rPr lang="ko-KR" altLang="en-US" dirty="0"/>
              <a:t>건축물대장</a:t>
            </a:r>
            <a:r>
              <a:rPr lang="en-US" altLang="ko-KR" dirty="0"/>
              <a:t>, </a:t>
            </a:r>
            <a:r>
              <a:rPr lang="ko-KR" altLang="en-US" dirty="0"/>
              <a:t>위성지도</a:t>
            </a:r>
            <a:r>
              <a:rPr lang="en-US" altLang="ko-KR" dirty="0"/>
              <a:t>, </a:t>
            </a:r>
            <a:r>
              <a:rPr lang="ko-KR" altLang="en-US" dirty="0"/>
              <a:t>지적도 등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3CCBAF85-3379-46A3-88D9-805B02BC54B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43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코멘트 1-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(3) </a:t>
            </a:r>
            <a:r>
              <a:rPr lang="ko-KR" altLang="en-US" dirty="0"/>
              <a:t>코멘트 </a:t>
            </a:r>
            <a:r>
              <a:rPr lang="en-US" altLang="ko-KR" dirty="0"/>
              <a:t>1~2</a:t>
            </a:r>
            <a:r>
              <a:rPr lang="ko-KR" altLang="en-US" dirty="0"/>
              <a:t>줄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568FD060-00C2-42BC-AEC2-B84C978C89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13615689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F137F1E-8BC8-406B-9476-C7EF55E95E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324699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BB85D1E-FC25-49F4-AB33-843F7D19F5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583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코멘트3-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(3)</a:t>
            </a:r>
            <a:r>
              <a:rPr lang="ko-KR" altLang="en-US" dirty="0"/>
              <a:t> 코멘트 </a:t>
            </a:r>
            <a:r>
              <a:rPr lang="en-US" altLang="ko-KR" dirty="0"/>
              <a:t>3~5</a:t>
            </a:r>
            <a:r>
              <a:rPr lang="ko-KR" altLang="en-US" dirty="0"/>
              <a:t>줄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568FD060-00C2-42BC-AEC2-B84C978C89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5132048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F137F1E-8BC8-406B-9476-C7EF55E95E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69504057"/>
              </p:ext>
            </p:extLst>
          </p:nvPr>
        </p:nvGraphicFramePr>
        <p:xfrm>
          <a:off x="422274" y="5478782"/>
          <a:ext cx="1017906" cy="15239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BB85D1E-FC25-49F4-AB33-843F7D19F5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2"/>
            <a:ext cx="8744195" cy="152399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  <a:p>
            <a:pPr marL="0" marR="0" lvl="0" indent="0" algn="l" defTabSz="1007943" rtl="0" eaLnBrk="1" fontAlgn="auto" latinLnBrk="1" hangingPunct="1">
              <a:lnSpc>
                <a:spcPct val="10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32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물건현황 (가로 임장사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(11) </a:t>
            </a:r>
            <a:r>
              <a:rPr lang="ko-KR" altLang="en-US" dirty="0"/>
              <a:t>임장 사진자료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8FC2851-FD72-4B52-8D5F-EACADEFBAD7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78880" y="1236996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2" name="그림 개체 틀 6">
            <a:extLst>
              <a:ext uri="{FF2B5EF4-FFF2-40B4-BE49-F238E27FC236}">
                <a16:creationId xmlns:a16="http://schemas.microsoft.com/office/drawing/2014/main" id="{158777FC-5414-4E71-8282-EEC07EB9CE3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479294" y="1236996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3" name="그림 개체 틀 6">
            <a:extLst>
              <a:ext uri="{FF2B5EF4-FFF2-40B4-BE49-F238E27FC236}">
                <a16:creationId xmlns:a16="http://schemas.microsoft.com/office/drawing/2014/main" id="{87AE4F4F-28FC-4799-8084-266D7B050F2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78880" y="4146347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sp>
        <p:nvSpPr>
          <p:cNvPr id="14" name="그림 개체 틀 6">
            <a:extLst>
              <a:ext uri="{FF2B5EF4-FFF2-40B4-BE49-F238E27FC236}">
                <a16:creationId xmlns:a16="http://schemas.microsoft.com/office/drawing/2014/main" id="{EF7CC9EA-BCF2-487F-BDCB-CC7281C3D47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479294" y="4146347"/>
            <a:ext cx="4228919" cy="2768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가로형 임장사진 첨부</a:t>
            </a:r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6C8AACEE-FA0E-442E-9A14-0400CEC4894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5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-물건현황 (가로 임장사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6" y="417723"/>
            <a:ext cx="4191318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(11) </a:t>
            </a:r>
            <a:r>
              <a:rPr lang="ko-KR" altLang="en-US" dirty="0"/>
              <a:t>임장 사진자료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93D2-7E87-4B6F-B3E2-D3E450D2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6C6326-EDD3-40C8-9FBA-255C1D1C0A3B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6C8AACEE-FA0E-442E-9A14-0400CEC4894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0668044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21" name="그림 개체 틀 8">
            <a:extLst>
              <a:ext uri="{FF2B5EF4-FFF2-40B4-BE49-F238E27FC236}">
                <a16:creationId xmlns:a16="http://schemas.microsoft.com/office/drawing/2014/main" id="{E710B364-F350-448C-BFDD-9C37C1B762F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6781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  <p:sp>
        <p:nvSpPr>
          <p:cNvPr id="22" name="그림 개체 틀 8">
            <a:extLst>
              <a:ext uri="{FF2B5EF4-FFF2-40B4-BE49-F238E27FC236}">
                <a16:creationId xmlns:a16="http://schemas.microsoft.com/office/drawing/2014/main" id="{ED484782-ADAF-42CE-AA44-7E6A4A1BF49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740943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  <p:sp>
        <p:nvSpPr>
          <p:cNvPr id="23" name="그림 개체 틀 8">
            <a:extLst>
              <a:ext uri="{FF2B5EF4-FFF2-40B4-BE49-F238E27FC236}">
                <a16:creationId xmlns:a16="http://schemas.microsoft.com/office/drawing/2014/main" id="{3BA2AC11-D03A-43D2-9C76-39FB6F108FD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005104" y="1598613"/>
            <a:ext cx="3209925" cy="490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세로형 임장사진 첨부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654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3) 권리분석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C8BAF3-2CEB-4E37-AEBF-F4180FCD6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1A58E7B4-17F4-4D6F-B5F7-FE21A15D60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64BC432-7054-4BB6-9525-1AB699122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4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(1) </a:t>
            </a:r>
            <a:r>
              <a:rPr lang="ko-KR" altLang="en-US" dirty="0"/>
              <a:t>현황조사서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95153809-3837-4B6E-AD1B-84CB839E29A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93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42473C5F-FD20-4145-AEF6-291EBD3BB1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3526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419151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하단코멘트 센터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3017"/>
            <a:ext cx="9545531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27689204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0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권리분석 (상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134B0-FE7B-49D7-B612-65F0AA705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02435" y="417723"/>
            <a:ext cx="6467205" cy="6248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- (5) </a:t>
            </a:r>
            <a:r>
              <a:rPr lang="ko-KR" altLang="en-US" dirty="0"/>
              <a:t>등기부현황 </a:t>
            </a:r>
            <a:r>
              <a:rPr lang="en-US" altLang="ko-KR" dirty="0"/>
              <a:t>(</a:t>
            </a:r>
            <a:r>
              <a:rPr lang="ko-KR" altLang="en-US" dirty="0"/>
              <a:t>세부목록을 입력하세요</a:t>
            </a:r>
            <a:r>
              <a:rPr lang="en-US" altLang="ko-KR" dirty="0"/>
              <a:t>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4E4-EDF6-4A15-9D6A-8650AD30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89290B-6E5B-4A43-AA55-9A5A2500C50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9CE595-AA70-4F5F-AA1C-1826C600E4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547" y="3592721"/>
            <a:ext cx="9846718" cy="63976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45AE750A-C746-4469-873D-5ABC490712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3241621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42473C5F-FD20-4145-AEF6-291EBD3BB1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547" y="6362700"/>
            <a:ext cx="9846718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566934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4) - 투자가치 분석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038585-2C5E-4CF2-B8DF-034C5463A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15D1982C-51ED-4DB7-8B1A-7DFA5E19B6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74F348D-B19E-41AC-B7D5-0F474DE03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5648" y="2133177"/>
            <a:ext cx="4633913" cy="373930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273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 (무지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0432717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BF230114-1543-4885-B044-300E2B1A35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2791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상하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17788200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E6B989C4-F992-4701-B93B-8EE8FC37D4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547" y="3592721"/>
            <a:ext cx="9846718" cy="63976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040DB528-E044-46BF-ABAE-C8EDEB8BA9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2547" y="6362700"/>
            <a:ext cx="9846718" cy="63976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02FD955-E64D-4D73-9E3E-53EDDEEE59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21454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 (하단코멘트 2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953311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FEDCF8A3-1C9E-4ACC-B39B-D8AB46D34A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705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E1166485-3D61-491A-BCE1-209AB4D6E0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35266" y="6362700"/>
            <a:ext cx="4689492" cy="639763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※ </a:t>
            </a:r>
            <a:r>
              <a:rPr lang="ko-KR" altLang="en-US" dirty="0"/>
              <a:t>텍스트를 입력하세요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입력하지 않을 경우 텍스트는 출력되지 않습니다</a:t>
            </a:r>
            <a:r>
              <a:rPr lang="en-US" altLang="ko-KR" dirty="0"/>
              <a:t>.)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52F95191-5413-4E29-B9D9-A9FCF99444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8937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팁 코멘트 1~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9635224C-2C94-4940-9AB1-17B3756C75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39752126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TIP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7B273A0-8C8C-40F0-98F9-94033566A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482B1DC0-38D4-4C70-908D-F27CBCEEFF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55666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팁 코멘트 3~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FB093AA1-FB73-4D21-BCE8-E0F2D78C79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1"/>
            <a:ext cx="8744195" cy="152400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25.10</a:t>
            </a:r>
            <a:r>
              <a:rPr lang="ko-KR" altLang="en-US" dirty="0"/>
              <a:t>월에 기존 신고가 </a:t>
            </a:r>
            <a:r>
              <a:rPr lang="en-US" altLang="ko-KR" dirty="0"/>
              <a:t>[19</a:t>
            </a:r>
            <a:r>
              <a:rPr lang="ko-KR" altLang="en-US" dirty="0"/>
              <a:t>억</a:t>
            </a:r>
            <a:r>
              <a:rPr lang="en-US" altLang="ko-KR" dirty="0"/>
              <a:t>]</a:t>
            </a:r>
            <a:r>
              <a:rPr lang="ko-KR" altLang="en-US" dirty="0"/>
              <a:t>를 넘어 </a:t>
            </a:r>
            <a:r>
              <a:rPr lang="en-US" altLang="ko-KR" dirty="0"/>
              <a:t>20</a:t>
            </a:r>
            <a:r>
              <a:rPr lang="ko-KR" altLang="en-US" dirty="0"/>
              <a:t>억에 거래됨</a:t>
            </a:r>
            <a:endParaRPr lang="en-US" altLang="ko-KR" dirty="0"/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저층 매물도 현재 </a:t>
            </a:r>
            <a:r>
              <a:rPr lang="en-US" altLang="ko-KR" dirty="0"/>
              <a:t>17</a:t>
            </a:r>
            <a:r>
              <a:rPr lang="ko-KR" altLang="en-US" dirty="0" err="1"/>
              <a:t>억중반</a:t>
            </a:r>
            <a:r>
              <a:rPr lang="ko-KR" altLang="en-US" dirty="0"/>
              <a:t> 이상에 나와있는 상황</a:t>
            </a:r>
            <a:endParaRPr lang="en-US" altLang="ko-KR" dirty="0"/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고층 매물은 현재 </a:t>
            </a:r>
            <a:r>
              <a:rPr lang="en-US" altLang="ko-KR" dirty="0"/>
              <a:t>~</a:t>
            </a:r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80CE3E01-EEEE-4327-921C-6E8A7EF9B9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2710718"/>
              </p:ext>
            </p:extLst>
          </p:nvPr>
        </p:nvGraphicFramePr>
        <p:xfrm>
          <a:off x="422547" y="5478781"/>
          <a:ext cx="1017906" cy="15239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TIP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011459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7DD06F88-ED9C-4622-B627-0A1543E7601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0402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주의 코멘트 1~2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DFC49255-E5FC-41A8-AFF8-3CF83877C48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3931970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9635224C-2C94-4940-9AB1-17B3756C75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1772696"/>
              </p:ext>
            </p:extLst>
          </p:nvPr>
        </p:nvGraphicFramePr>
        <p:xfrm>
          <a:off x="422274" y="6289040"/>
          <a:ext cx="1017906" cy="7137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7B273A0-8C8C-40F0-98F9-94033566A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6289040"/>
            <a:ext cx="8744195" cy="713740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8066DE97-14DF-4A6F-8F3A-3F8125C7BB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62176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투자가치 분석(주의 코멘트 3~5줄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7EE504-0A8D-4F4E-8F30-970AC11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93BB02-C4CE-4961-8994-6C8830C9E8DA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80CE3E01-EEEE-4327-921C-6E8A7EF9B9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7446539"/>
              </p:ext>
            </p:extLst>
          </p:nvPr>
        </p:nvGraphicFramePr>
        <p:xfrm>
          <a:off x="422274" y="5478782"/>
          <a:ext cx="1017906" cy="15239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906">
                  <a:extLst>
                    <a:ext uri="{9D8B030D-6E8A-4147-A177-3AD203B41FA5}">
                      <a16:colId xmlns:a16="http://schemas.microsoft.com/office/drawing/2014/main" val="865998248"/>
                    </a:ext>
                  </a:extLst>
                </a:gridCol>
              </a:tblGrid>
              <a:tr h="15239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rgbClr val="002060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</a:t>
                      </a:r>
                      <a:endParaRPr lang="ko-KR" altLang="en-US" sz="2000" b="0" dirty="0">
                        <a:solidFill>
                          <a:srgbClr val="002060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472811"/>
                  </a:ext>
                </a:extLst>
              </a:tr>
            </a:tbl>
          </a:graphicData>
        </a:graphic>
      </p:graphicFrame>
      <p:graphicFrame>
        <p:nvGraphicFramePr>
          <p:cNvPr id="10" name="표 2">
            <a:extLst>
              <a:ext uri="{FF2B5EF4-FFF2-40B4-BE49-F238E27FC236}">
                <a16:creationId xmlns:a16="http://schemas.microsoft.com/office/drawing/2014/main" id="{18013255-93BC-4E6D-9152-827CEB2430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E996368C-FC66-4DCA-AC36-BCF4A87556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25071" y="5478782"/>
            <a:ext cx="8744195" cy="152399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200" kern="700" baseline="0">
                <a:effectLst>
                  <a:outerShdw blurRad="50800" dist="381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예시</a:t>
            </a:r>
            <a:r>
              <a:rPr lang="en-US" altLang="ko-KR" dirty="0"/>
              <a:t>) · </a:t>
            </a:r>
            <a:r>
              <a:rPr lang="ko-KR" altLang="en-US" dirty="0"/>
              <a:t>보증금 </a:t>
            </a:r>
            <a:r>
              <a:rPr lang="en-US" altLang="ko-KR" dirty="0"/>
              <a:t>1</a:t>
            </a:r>
            <a:r>
              <a:rPr lang="ko-KR" altLang="en-US" dirty="0"/>
              <a:t>억 물건 제외</a:t>
            </a:r>
            <a:r>
              <a:rPr lang="en-US" altLang="ko-KR" dirty="0"/>
              <a:t>, </a:t>
            </a:r>
            <a:r>
              <a:rPr lang="ko-KR" altLang="en-US" dirty="0"/>
              <a:t>현재 단지내 </a:t>
            </a:r>
            <a:r>
              <a:rPr lang="ko-KR" altLang="en-US" dirty="0" err="1"/>
              <a:t>매물최저는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억</a:t>
            </a:r>
            <a:r>
              <a:rPr lang="en-US" altLang="ko-KR" dirty="0"/>
              <a:t>[</a:t>
            </a:r>
            <a:r>
              <a:rPr lang="ko-KR" altLang="en-US" dirty="0"/>
              <a:t>급매</a:t>
            </a:r>
            <a:r>
              <a:rPr lang="en-US" altLang="ko-KR" dirty="0"/>
              <a:t>] </a:t>
            </a:r>
            <a:r>
              <a:rPr lang="ko-KR" altLang="en-US" dirty="0"/>
              <a:t>물건으로 확인 되었습니다</a:t>
            </a:r>
            <a:r>
              <a:rPr lang="en-US" altLang="ko-KR" dirty="0"/>
              <a:t>.</a:t>
            </a:r>
          </a:p>
          <a:p>
            <a:pPr lvl="0"/>
            <a:r>
              <a:rPr lang="en-US" altLang="ko-KR" dirty="0"/>
              <a:t>· </a:t>
            </a:r>
            <a:r>
              <a:rPr lang="ko-KR" altLang="en-US" dirty="0"/>
              <a:t>평균 시세는 </a:t>
            </a:r>
            <a:r>
              <a:rPr lang="en-US" altLang="ko-KR" dirty="0"/>
              <a:t>17</a:t>
            </a:r>
            <a:r>
              <a:rPr lang="ko-KR" altLang="en-US" dirty="0"/>
              <a:t>억</a:t>
            </a:r>
            <a:r>
              <a:rPr lang="en-US" altLang="ko-KR" dirty="0"/>
              <a:t>~18</a:t>
            </a:r>
            <a:r>
              <a:rPr lang="ko-KR" altLang="en-US" dirty="0"/>
              <a:t>억이 합리적인 가격이며</a:t>
            </a:r>
            <a:r>
              <a:rPr lang="en-US" altLang="ko-KR" dirty="0"/>
              <a:t>, ‘</a:t>
            </a:r>
            <a:r>
              <a:rPr lang="ko-KR" altLang="en-US" dirty="0"/>
              <a:t>매물최고 </a:t>
            </a:r>
            <a:r>
              <a:rPr lang="en-US" altLang="ko-KR" dirty="0"/>
              <a:t>19</a:t>
            </a:r>
            <a:r>
              <a:rPr lang="ko-KR" altLang="en-US" dirty="0"/>
              <a:t>억 </a:t>
            </a:r>
            <a:r>
              <a:rPr lang="en-US" altLang="ko-KR" dirty="0"/>
              <a:t>[</a:t>
            </a:r>
            <a:r>
              <a:rPr lang="ko-KR" altLang="en-US" dirty="0" err="1"/>
              <a:t>올수리</a:t>
            </a:r>
            <a:r>
              <a:rPr lang="en-US" altLang="ko-KR" dirty="0"/>
              <a:t>]’ </a:t>
            </a:r>
            <a:r>
              <a:rPr lang="ko-KR" altLang="en-US" dirty="0"/>
              <a:t>물건도 있는 것으로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6FAA7F8F-3B5D-4F75-906F-0E52387A0E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3862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(1) </a:t>
            </a:r>
            <a:r>
              <a:rPr lang="ko-KR" altLang="en-US" dirty="0"/>
              <a:t>세부목록 입력하세요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281426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5) 담당자 종합의견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F4EE92-4FF5-4D3B-A43D-C0ADEAD0F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934604FB-5D53-489F-9CBF-A114809BA22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DF6F65D5-AE27-4541-BAB1-CA474765A8F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82744591"/>
              </p:ext>
            </p:extLst>
          </p:nvPr>
        </p:nvGraphicFramePr>
        <p:xfrm>
          <a:off x="5865647" y="2062711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물건현황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권리분석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특이사항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관련 법령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적정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입찰가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산정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취득세 및 대출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입찰가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산정표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취득비용 계산표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851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물건현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35BC1F-0C78-4063-9EC6-DAA3A0015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2F4D4696-0488-4084-AF67-8056832AC22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86712621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물건현황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A1771A7B-88DD-42BE-8DA2-3538BEC5ED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65F28A59-1FCF-4663-9581-ED7D221C9F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8188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권리분석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EB389897-9AB8-47D1-A3DD-9EE6813940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16795497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권리분석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6436436B-829A-400A-ABBE-F634E03047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3BF7A847-B236-4761-94B5-E31BD9B949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42822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특이사항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41338472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특이사항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35443216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B5BCB6FB-C6F4-45AE-9D7A-0EF4F32C2C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~</a:t>
            </a:r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ㄹㄹㄹㄹㄹ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1276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관련법령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1B52698-FB42-4060-A2B7-F06514204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5E0739FE-E2F1-4636-92FA-62EDD17E03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3FAF601-5D94-4D3B-A25E-8E6A6CF7FDF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83002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(4)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관련 법령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A62F88D7-19B1-4E86-9234-9084B66004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….</a:t>
            </a:r>
          </a:p>
          <a:p>
            <a:pPr lvl="0"/>
            <a:r>
              <a:rPr lang="en-US" altLang="ko-KR" dirty="0"/>
              <a:t>A</a:t>
            </a:r>
          </a:p>
          <a:p>
            <a:pPr lvl="0"/>
            <a:r>
              <a:rPr lang="en-US" altLang="ko-KR" dirty="0"/>
              <a:t>B</a:t>
            </a:r>
          </a:p>
          <a:p>
            <a:pPr lvl="0"/>
            <a:r>
              <a:rPr lang="en-US" altLang="ko-K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439497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적정 입찰가 산정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C4B3A2B8-1FB6-4699-86E0-3FDE5BB8DA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92157214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(5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적정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입찰가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산정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68C0EE81-B167-4EF6-A55E-79FF247729E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D22CDA59-71F0-4BF0-8EF7-3CFE41085B6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2" y="1527808"/>
            <a:ext cx="9534525" cy="54960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Tx/>
              <a:buChar char="-"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물건은 현재 </a:t>
            </a:r>
            <a:r>
              <a:rPr lang="en-US" altLang="ko-KR" dirty="0"/>
              <a:t>~</a:t>
            </a:r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</a:t>
            </a:r>
            <a:endParaRPr lang="en-US" altLang="ko-KR" dirty="0"/>
          </a:p>
          <a:p>
            <a:pPr lvl="0"/>
            <a:r>
              <a:rPr lang="ko-KR" altLang="en-US" dirty="0" err="1"/>
              <a:t>ㄹㄹㄹㄹㄹ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25BD3F-9142-46D6-B109-5F3216459E53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28575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260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-담당자 종합의견 (취득세 및 대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83298803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(6)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취득세 및 대출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67961429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7239A5D-2D92-4B84-88B4-590BA1BA3C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1122748"/>
              </p:ext>
            </p:extLst>
          </p:nvPr>
        </p:nvGraphicFramePr>
        <p:xfrm>
          <a:off x="556063" y="6485626"/>
          <a:ext cx="95796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9686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취득세 기준은 정책 및 개별 요건 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중과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감면 등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 따라 변경될 수 있으며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실제 고지 세액과는 차이가 있을 수 있습니다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  <a:endParaRPr lang="ko-KR" altLang="en-US" sz="1200" b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7579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입찰가산정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78153007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(7)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입찰가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산정표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019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취득비용 계산표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5AD3A5-60AC-4219-AD66-2B5C21494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401B94B-37F4-478B-97EE-65BFBDDD45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96459451"/>
              </p:ext>
            </p:extLst>
          </p:nvPr>
        </p:nvGraphicFramePr>
        <p:xfrm>
          <a:off x="4694294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(8)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취득비용 계산표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graphicFrame>
        <p:nvGraphicFramePr>
          <p:cNvPr id="7" name="표 2">
            <a:extLst>
              <a:ext uri="{FF2B5EF4-FFF2-40B4-BE49-F238E27FC236}">
                <a16:creationId xmlns:a16="http://schemas.microsoft.com/office/drawing/2014/main" id="{86619A82-317D-49A0-9263-02C79EB951A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61287352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FA5194D-413A-47FA-9377-3B895293FDB8}"/>
              </a:ext>
            </a:extLst>
          </p:cNvPr>
          <p:cNvSpPr/>
          <p:nvPr userDrawn="1"/>
        </p:nvSpPr>
        <p:spPr>
          <a:xfrm>
            <a:off x="422547" y="1096429"/>
            <a:ext cx="9846719" cy="5906351"/>
          </a:xfrm>
          <a:prstGeom prst="rect">
            <a:avLst/>
          </a:prstGeom>
          <a:noFill/>
          <a:ln w="101600" cap="flat">
            <a:solidFill>
              <a:srgbClr val="FF0000"/>
            </a:solidFill>
            <a:miter lim="800000"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282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사진 활용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27551-34A4-4536-831D-FBAA230046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9949" y="1131464"/>
            <a:ext cx="5015957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None/>
              <a:defRPr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FB159568-86F6-4FB5-BE69-42F6ADEC03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949" y="4046855"/>
            <a:ext cx="5016094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FontTx/>
              <a:buNone/>
              <a:defRPr b="0"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5362FD46-3A48-4984-8C14-6E829C4023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5013" y="1496272"/>
            <a:ext cx="4610893" cy="25505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D116040-D059-4DCF-85AA-3DC1B9A091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3" y="4411663"/>
            <a:ext cx="4610894" cy="2629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E77BDF-7457-4EB0-AD44-B4B3B596AB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486400" y="1131888"/>
            <a:ext cx="4782868" cy="5908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1B52698-FB42-4060-A2B7-F06514204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5E0739FE-E2F1-4636-92FA-62EDD17E031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23173245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E7F962DA-B171-4D75-B39A-D1D5B53C3B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46006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(6) </a:t>
            </a:r>
            <a:r>
              <a:rPr lang="ko-KR" altLang="en-US" dirty="0"/>
              <a:t>관련법령</a:t>
            </a:r>
            <a:r>
              <a:rPr lang="en-US" altLang="ko-KR" dirty="0"/>
              <a:t>…. </a:t>
            </a:r>
            <a:r>
              <a:rPr lang="ko-KR" altLang="en-US" dirty="0"/>
              <a:t>세부목록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708982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담당자 종합의견 (사진활용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F27551-34A4-4536-831D-FBAA230046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9949" y="1131464"/>
            <a:ext cx="5015957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None/>
              <a:defRPr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FB159568-86F6-4FB5-BE69-42F6ADEC03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949" y="4046855"/>
            <a:ext cx="5016094" cy="3549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  <a:lvl2pPr marL="503971" indent="0">
              <a:buFontTx/>
              <a:buNone/>
              <a:defRPr b="0"/>
            </a:lvl2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세부 목록을 입력하세요</a:t>
            </a:r>
            <a:r>
              <a:rPr lang="en-US" altLang="ko-KR" dirty="0"/>
              <a:t>.) ex) </a:t>
            </a:r>
            <a:r>
              <a:rPr lang="ko-KR" altLang="en-US" dirty="0"/>
              <a:t>물건현황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5362FD46-3A48-4984-8C14-6E829C4023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5013" y="1496272"/>
            <a:ext cx="4610893" cy="25505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D116040-D059-4DCF-85AA-3DC1B9A091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5013" y="4411663"/>
            <a:ext cx="4610894" cy="2629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-</a:t>
            </a:r>
            <a:r>
              <a:rPr lang="ko-KR" altLang="en-US" dirty="0"/>
              <a:t> 물건은 현재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E77BDF-7457-4EB0-AD44-B4B3B596AB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486400" y="1131888"/>
            <a:ext cx="4782868" cy="2914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9F782013-5EC5-4CD0-A5E9-7B57D4A9DBB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486400" y="4046855"/>
            <a:ext cx="4782868" cy="2914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사용할 이미지를 첨부하세요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4B5CF8-8868-4D30-A462-090CE156A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A6C19DD2-25B4-49AE-B9BC-2F4EF45F44F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D1709661-2907-4A31-896D-BC2CBADE56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6006" y="417723"/>
            <a:ext cx="4332663" cy="624840"/>
          </a:xfrm>
          <a:prstGeom prst="rect">
            <a:avLst/>
          </a:prstGeom>
          <a:effectLst>
            <a:outerShdw blurRad="190500" dir="2700000" algn="tl" rotWithShape="0">
              <a:schemeClr val="bg1"/>
            </a:outerShdw>
          </a:effectLst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effectLst>
                  <a:outerShdw blurRad="50800" dir="2700000" algn="tl" rotWithShape="0">
                    <a:schemeClr val="bg1"/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예시</a:t>
            </a:r>
            <a:r>
              <a:rPr lang="en-US" altLang="ko-KR" dirty="0"/>
              <a:t>, (6) </a:t>
            </a:r>
            <a:r>
              <a:rPr lang="ko-KR" altLang="en-US" dirty="0"/>
              <a:t>관련법령</a:t>
            </a:r>
            <a:r>
              <a:rPr lang="en-US" altLang="ko-KR" dirty="0"/>
              <a:t>…. </a:t>
            </a:r>
            <a:r>
              <a:rPr lang="ko-KR" altLang="en-US" dirty="0"/>
              <a:t>세부목록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10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6) 명도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D21CFD-1345-4B4A-9F75-194818718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B2A56DEC-D387-44B0-BC34-D61E6192A2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5" name="표 8">
            <a:extLst>
              <a:ext uri="{FF2B5EF4-FFF2-40B4-BE49-F238E27FC236}">
                <a16:creationId xmlns:a16="http://schemas.microsoft.com/office/drawing/2014/main" id="{97D4783F-A665-4B0E-9245-96B54D178D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08138576"/>
              </p:ext>
            </p:extLst>
          </p:nvPr>
        </p:nvGraphicFramePr>
        <p:xfrm>
          <a:off x="5865647" y="2007293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명도 정액제</a:t>
                      </a:r>
                      <a:r>
                        <a:rPr lang="en-US" altLang="ko-K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실비제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비용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명도 정액제</a:t>
                      </a:r>
                      <a:r>
                        <a:rPr lang="en-US" altLang="ko-KR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실비제</a:t>
                      </a: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소개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 및 제비용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0960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 (정액제와 실비제 비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0068B8-8679-4123-9B6B-94FC3CA992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41438" y="4708843"/>
            <a:ext cx="3017837" cy="625475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tIns="144000" anchor="ctr" anchorCtr="0">
            <a:normAutofit/>
          </a:bodyPr>
          <a:lstStyle>
            <a:lvl1pPr marL="0" indent="0" algn="ctr">
              <a:buNone/>
              <a:defRPr sz="2800" i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총 </a:t>
            </a:r>
            <a:r>
              <a:rPr lang="en-US" altLang="ko-KR" dirty="0"/>
              <a:t>999</a:t>
            </a:r>
            <a:r>
              <a:rPr lang="ko-KR" altLang="en-US" dirty="0"/>
              <a:t>만원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EEE5BA5-BB9F-4E6C-9059-AFBEBFAC3C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1578" y="4708842"/>
            <a:ext cx="3017837" cy="625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ko-KR" altLang="en-US" dirty="0"/>
              <a:t>약 </a:t>
            </a:r>
            <a:r>
              <a:rPr lang="en-US" altLang="ko-KR" dirty="0"/>
              <a:t> 999</a:t>
            </a:r>
            <a:r>
              <a:rPr lang="ko-KR" altLang="en-US" dirty="0"/>
              <a:t>만원 </a:t>
            </a:r>
            <a:r>
              <a:rPr lang="en-US" altLang="ko-KR" dirty="0"/>
              <a:t>+ @</a:t>
            </a:r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C5CA323B-055F-4341-959D-B6B115B6BD6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31964" y="3242310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88656FC7-2F59-4257-8717-90A1DA763E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31963" y="3728085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AB775BB0-E88F-41A9-9B4B-D1AA59A1C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13573" y="3242310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73F6C08F-9FE7-4D63-8E94-81C18C8600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13572" y="3728085"/>
            <a:ext cx="1897063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144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99,999,999 </a:t>
            </a:r>
            <a:r>
              <a:rPr lang="ko-KR" altLang="en-US" dirty="0"/>
              <a:t>원</a:t>
            </a:r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00354426-7658-4BD1-9DFB-2DC0EE1BB5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27965421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명도 정액제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실비제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비용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DCC4813-614D-4F72-B038-E146647D2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A2D2C64D-4725-4393-A9DF-E9DDD97938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900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(정액제와 실비제 설명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4D86449A-DC6E-49D4-A8D8-0950575CA3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01097447"/>
              </p:ext>
            </p:extLst>
          </p:nvPr>
        </p:nvGraphicFramePr>
        <p:xfrm>
          <a:off x="1407212" y="6310226"/>
          <a:ext cx="7877388" cy="42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877388">
                  <a:extLst>
                    <a:ext uri="{9D8B030D-6E8A-4147-A177-3AD203B41FA5}">
                      <a16:colId xmlns:a16="http://schemas.microsoft.com/office/drawing/2014/main" val="1525684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정액제는 예상치 못한 비용 </a:t>
                      </a:r>
                      <a:r>
                        <a:rPr lang="ko-KR" altLang="en-US" sz="2000" b="0" dirty="0">
                          <a:solidFill>
                            <a:schemeClr val="accent2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리스크를 최소화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하는 최적의 방안입니다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.”</a:t>
                      </a:r>
                      <a:endParaRPr lang="ko-KR" altLang="en-US" sz="20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409200"/>
                  </a:ext>
                </a:extLst>
              </a:tr>
            </a:tbl>
          </a:graphicData>
        </a:graphic>
      </p:graphicFrame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2C96380B-B744-4824-A3EC-60C8F75E9F87}"/>
              </a:ext>
            </a:extLst>
          </p:cNvPr>
          <p:cNvSpPr/>
          <p:nvPr userDrawn="1"/>
        </p:nvSpPr>
        <p:spPr>
          <a:xfrm>
            <a:off x="690879" y="6333086"/>
            <a:ext cx="765387" cy="37084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4" name="표 8">
            <a:extLst>
              <a:ext uri="{FF2B5EF4-FFF2-40B4-BE49-F238E27FC236}">
                <a16:creationId xmlns:a16="http://schemas.microsoft.com/office/drawing/2014/main" id="{D1901521-19CB-4FEC-9ABA-6A89EF3899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61716162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명도 정액제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2000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실비제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3967055-5CBD-4BAC-A6AE-3671C9CE6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6036DA1B-4C63-455C-A073-A33F9E82DF4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D9FFA9DC-80A8-4284-BB34-352E3C59C1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06311" y="1321115"/>
            <a:ext cx="3069368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999</a:t>
            </a:r>
            <a:r>
              <a:rPr lang="ko-KR" altLang="en-US" dirty="0"/>
              <a:t>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텍스트 개체 틀 9">
            <a:extLst>
              <a:ext uri="{FF2B5EF4-FFF2-40B4-BE49-F238E27FC236}">
                <a16:creationId xmlns:a16="http://schemas.microsoft.com/office/drawing/2014/main" id="{A430B6DA-F211-47B1-90DC-A1B73A3A3C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06310" y="3175315"/>
            <a:ext cx="3069369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999</a:t>
            </a:r>
            <a:r>
              <a:rPr lang="ko-KR" altLang="en-US" dirty="0"/>
              <a:t>만원 </a:t>
            </a:r>
            <a:r>
              <a:rPr lang="en-US" altLang="ko-KR" dirty="0"/>
              <a:t>+ @‥.)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8217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명도(강제집행비 및 제비용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F55CF9B-0567-487B-9C4D-B109F5A673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22369993"/>
              </p:ext>
            </p:extLst>
          </p:nvPr>
        </p:nvGraphicFramePr>
        <p:xfrm>
          <a:off x="5345907" y="1540794"/>
          <a:ext cx="4923360" cy="387748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71398">
                  <a:extLst>
                    <a:ext uri="{9D8B030D-6E8A-4147-A177-3AD203B41FA5}">
                      <a16:colId xmlns:a16="http://schemas.microsoft.com/office/drawing/2014/main" val="2377977484"/>
                    </a:ext>
                  </a:extLst>
                </a:gridCol>
                <a:gridCol w="659312">
                  <a:extLst>
                    <a:ext uri="{9D8B030D-6E8A-4147-A177-3AD203B41FA5}">
                      <a16:colId xmlns:a16="http://schemas.microsoft.com/office/drawing/2014/main" val="2423060439"/>
                    </a:ext>
                  </a:extLst>
                </a:gridCol>
                <a:gridCol w="1414613">
                  <a:extLst>
                    <a:ext uri="{9D8B030D-6E8A-4147-A177-3AD203B41FA5}">
                      <a16:colId xmlns:a16="http://schemas.microsoft.com/office/drawing/2014/main" val="989647044"/>
                    </a:ext>
                  </a:extLst>
                </a:gridCol>
                <a:gridCol w="778037">
                  <a:extLst>
                    <a:ext uri="{9D8B030D-6E8A-4147-A177-3AD203B41FA5}">
                      <a16:colId xmlns:a16="http://schemas.microsoft.com/office/drawing/2014/main" val="1929537000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청구내역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지사관할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지사 관할 외 기타지역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비고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406700"/>
                  </a:ext>
                </a:extLst>
              </a:tr>
              <a:tr h="2688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채무자미팅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282839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인도명령작성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특수건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청구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9499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인도명령접수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1535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기록열람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870036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점유이전금지가처분작성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특수건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청구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4906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가처분접수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61373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가처분공탁보증서발급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49078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가처분집행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62131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가처분집행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350979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인도집행작성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서비스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0232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인도집행신청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849346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계고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회당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188457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계고 개문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92259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22946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인도집행 증인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200,000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455494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현장출장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점유권확보</a:t>
                      </a:r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100,000 + </a:t>
                      </a:r>
                      <a:r>
                        <a:rPr lang="ko-KR" altLang="en-US" sz="9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교통실비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　</a:t>
                      </a: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7128858"/>
                  </a:ext>
                </a:extLst>
              </a:tr>
              <a:tr h="212271">
                <a:tc gridSpan="4"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※ </a:t>
                      </a:r>
                      <a:r>
                        <a:rPr lang="ko-KR" altLang="en-US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상황에 따라 변동될 수 있음</a:t>
                      </a:r>
                      <a:r>
                        <a:rPr lang="en-US" altLang="ko-KR" sz="1200" b="1" i="0" u="none" strike="noStrike" dirty="0">
                          <a:solidFill>
                            <a:schemeClr val="accent2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</a:p>
                  </a:txBody>
                  <a:tcPr marL="5562" marR="36000" marT="55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5562" marR="5562" marT="556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1620488"/>
                  </a:ext>
                </a:extLst>
              </a:tr>
            </a:tbl>
          </a:graphicData>
        </a:graphic>
      </p:graphicFrame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40186E57-3D16-40D5-8444-D5F542FBCC1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0692360"/>
              </p:ext>
            </p:extLst>
          </p:nvPr>
        </p:nvGraphicFramePr>
        <p:xfrm>
          <a:off x="5345906" y="5564626"/>
          <a:ext cx="4923360" cy="13848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3360">
                  <a:extLst>
                    <a:ext uri="{9D8B030D-6E8A-4147-A177-3AD203B41FA5}">
                      <a16:colId xmlns:a16="http://schemas.microsoft.com/office/drawing/2014/main" val="1455174342"/>
                    </a:ext>
                  </a:extLst>
                </a:gridCol>
              </a:tblGrid>
              <a:tr h="787807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(1)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예상비용표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는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강제집행에 수반되는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접수비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운반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/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보관비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노무비 등의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전체 항목을 파악하여 계산된 총 예상 금액입니다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100424"/>
                  </a:ext>
                </a:extLst>
              </a:tr>
              <a:tr h="59700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(2) 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제비용표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는 강제집행 절차 진행 시 발생하는 비용으로</a:t>
                      </a: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    실제 발생한 경비를 기준으로 하여 청구하는 금액입니다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867813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DC56B29-AD90-453F-B8B0-E22B8F0B277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915305"/>
              </p:ext>
            </p:extLst>
          </p:nvPr>
        </p:nvGraphicFramePr>
        <p:xfrm>
          <a:off x="422547" y="1096429"/>
          <a:ext cx="4689204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689204">
                  <a:extLst>
                    <a:ext uri="{9D8B030D-6E8A-4147-A177-3AD203B41FA5}">
                      <a16:colId xmlns:a16="http://schemas.microsoft.com/office/drawing/2014/main" val="3532868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강제집행 예상비용표 </a:t>
                      </a:r>
                      <a:r>
                        <a:rPr lang="ko-KR" altLang="en-US" sz="12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⑴</a:t>
                      </a:r>
                      <a:endParaRPr lang="ko-KR" altLang="en-US" sz="15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49548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BAFDEAD0-8FBC-432A-93C7-BB7E289FD46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6411744"/>
              </p:ext>
            </p:extLst>
          </p:nvPr>
        </p:nvGraphicFramePr>
        <p:xfrm>
          <a:off x="5345905" y="1092188"/>
          <a:ext cx="4923359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23359">
                  <a:extLst>
                    <a:ext uri="{9D8B030D-6E8A-4147-A177-3AD203B41FA5}">
                      <a16:colId xmlns:a16="http://schemas.microsoft.com/office/drawing/2014/main" val="3532868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제비용표 </a:t>
                      </a:r>
                      <a:r>
                        <a:rPr lang="ko-KR" altLang="en-US" sz="12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⑵</a:t>
                      </a:r>
                      <a:r>
                        <a:rPr lang="ko-KR" altLang="en-US" sz="15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en-US" altLang="ko-KR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집행관련 항목별 비용</a:t>
                      </a:r>
                      <a:r>
                        <a:rPr lang="en-US" altLang="ko-KR" sz="1100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)</a:t>
                      </a:r>
                      <a:endParaRPr lang="ko-KR" altLang="en-US" sz="1100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49548"/>
                  </a:ext>
                </a:extLst>
              </a:tr>
            </a:tbl>
          </a:graphicData>
        </a:graphic>
      </p:graphicFrame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25834E74-C61F-4C42-9E00-B3C9F48B87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1589997"/>
              </p:ext>
            </p:extLst>
          </p:nvPr>
        </p:nvGraphicFramePr>
        <p:xfrm>
          <a:off x="2505415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</a:t>
                      </a:r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강제집행 예상비용 및 제비용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CA7BE7-DBCC-44EC-80CA-6000EFDE1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B6841CF0-04EF-40DE-90BE-05DC16494AC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1A20DA-AE70-432E-B8C9-9C55D9F385BD}"/>
              </a:ext>
            </a:extLst>
          </p:cNvPr>
          <p:cNvSpPr/>
          <p:nvPr userDrawn="1"/>
        </p:nvSpPr>
        <p:spPr>
          <a:xfrm>
            <a:off x="422546" y="1540792"/>
            <a:ext cx="4689205" cy="5408647"/>
          </a:xfrm>
          <a:prstGeom prst="rect">
            <a:avLst/>
          </a:prstGeom>
          <a:noFill/>
          <a:ln w="25400">
            <a:gradFill flip="none" rotWithShape="1">
              <a:gsLst>
                <a:gs pos="65000">
                  <a:schemeClr val="accent2"/>
                </a:gs>
                <a:gs pos="88000">
                  <a:schemeClr val="accent2">
                    <a:lumMod val="0"/>
                    <a:lumOff val="10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338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● (7) 입찰 준비 목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EDA81C-029D-4AEF-97DA-064041F26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F2ECD3FF-E124-4C97-8C93-1AA0DC49030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2956293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867E06-2C4D-45EF-AFA1-48AE6E3D26F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69396883"/>
              </p:ext>
            </p:extLst>
          </p:nvPr>
        </p:nvGraphicFramePr>
        <p:xfrm>
          <a:off x="5865647" y="2011526"/>
          <a:ext cx="4403621" cy="395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621">
                  <a:extLst>
                    <a:ext uri="{9D8B030D-6E8A-4147-A177-3AD203B41FA5}">
                      <a16:colId xmlns:a16="http://schemas.microsoft.com/office/drawing/2014/main" val="482934861"/>
                    </a:ext>
                  </a:extLst>
                </a:gridCol>
              </a:tblGrid>
              <a:tr h="3958241">
                <a:tc>
                  <a:txBody>
                    <a:bodyPr/>
                    <a:lstStyle/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준비서류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법원 정보</a:t>
                      </a:r>
                      <a:endParaRPr lang="en-US" altLang="ko-KR" sz="2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marL="457200" indent="-457200">
                        <a:spcBef>
                          <a:spcPts val="900"/>
                        </a:spcBef>
                        <a:buAutoNum type="arabicParenBoth"/>
                      </a:pPr>
                      <a:r>
                        <a:rPr lang="ko-KR" altLang="en-US" sz="2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경매 절차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9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2107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준비안내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4B15635B-DDA5-4F22-95E1-04D7637DF2A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5034317"/>
              </p:ext>
            </p:extLst>
          </p:nvPr>
        </p:nvGraphicFramePr>
        <p:xfrm>
          <a:off x="475431" y="2260598"/>
          <a:ext cx="9793835" cy="462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689">
                  <a:extLst>
                    <a:ext uri="{9D8B030D-6E8A-4147-A177-3AD203B41FA5}">
                      <a16:colId xmlns:a16="http://schemas.microsoft.com/office/drawing/2014/main" val="1613043670"/>
                    </a:ext>
                  </a:extLst>
                </a:gridCol>
                <a:gridCol w="9182146">
                  <a:extLst>
                    <a:ext uri="{9D8B030D-6E8A-4147-A177-3AD203B41FA5}">
                      <a16:colId xmlns:a16="http://schemas.microsoft.com/office/drawing/2014/main" val="3281715782"/>
                    </a:ext>
                  </a:extLst>
                </a:gridCol>
              </a:tblGrid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1.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개인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또는 개인사업자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67319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본인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인감도장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109828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70485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입찰 시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5658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입찰자 인감증명서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또는 </a:t>
                      </a:r>
                      <a:r>
                        <a:rPr lang="ko-KR" altLang="en-US" sz="15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전자본인서명확인서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인감 도장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위임장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경매 </a:t>
                      </a:r>
                      <a:r>
                        <a:rPr lang="ko-KR" altLang="en-US" sz="15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입찰표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뒷면에 있음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35143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고객님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일반 도장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764196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00850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대표자 본인 입찰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955913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등기부등본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사업자 등록증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대표자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법인 인감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176692"/>
                  </a:ext>
                </a:extLst>
              </a:tr>
              <a:tr h="32282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7255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4.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입찰 시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8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334097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가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등기부등본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인감증명서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사업자등록증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법인 인감 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[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위임장 날인에 필요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10253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r" latinLnBrk="1"/>
                      <a:endParaRPr lang="ko-KR" altLang="en-US" sz="18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나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대리인 신분증</a:t>
                      </a:r>
                      <a:r>
                        <a:rPr lang="en-US" altLang="ko-KR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5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도장 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[*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인감도장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아니어도 됨</a:t>
                      </a:r>
                      <a:r>
                        <a:rPr lang="en-US" altLang="ko-KR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5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20692"/>
                  </a:ext>
                </a:extLst>
              </a:tr>
            </a:tbl>
          </a:graphicData>
        </a:graphic>
      </p:graphicFrame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3126CB22-92AC-448D-A6B3-017DE54593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51886" y="1280475"/>
            <a:ext cx="2197270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r">
              <a:buNone/>
              <a:defRPr sz="2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9,999,999,999</a:t>
            </a:r>
            <a:endParaRPr lang="ko-KR" altLang="en-US" dirty="0"/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E3FDDC04-948E-4057-960C-B0C2755962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7311" y="1673310"/>
            <a:ext cx="2771775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2099</a:t>
            </a:r>
            <a:r>
              <a:rPr lang="ko-KR" altLang="en-US" dirty="0"/>
              <a:t>년 </a:t>
            </a:r>
            <a:r>
              <a:rPr lang="en-US" altLang="ko-KR" dirty="0"/>
              <a:t>99</a:t>
            </a:r>
            <a:r>
              <a:rPr lang="ko-KR" altLang="en-US" dirty="0"/>
              <a:t>월 </a:t>
            </a:r>
            <a:r>
              <a:rPr lang="en-US" altLang="ko-KR" dirty="0"/>
              <a:t>99</a:t>
            </a:r>
            <a:r>
              <a:rPr lang="ko-KR" altLang="en-US" dirty="0"/>
              <a:t>일 금요일</a:t>
            </a:r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F569463F-9911-4E34-8418-9488C2EB62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08295" y="1673310"/>
            <a:ext cx="935862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99:30</a:t>
            </a:r>
            <a:endParaRPr lang="ko-KR" altLang="en-US" dirty="0"/>
          </a:p>
        </p:txBody>
      </p:sp>
      <p:sp>
        <p:nvSpPr>
          <p:cNvPr id="15" name="텍스트 개체 틀 9">
            <a:extLst>
              <a:ext uri="{FF2B5EF4-FFF2-40B4-BE49-F238E27FC236}">
                <a16:creationId xmlns:a16="http://schemas.microsoft.com/office/drawing/2014/main" id="{F054D3FD-3172-42BE-9AF7-B2FF017AB6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20989" y="1673310"/>
            <a:ext cx="946984" cy="366678"/>
          </a:xfrm>
          <a:prstGeom prst="rect">
            <a:avLst/>
          </a:prstGeom>
        </p:spPr>
        <p:txBody>
          <a:bodyPr tIns="10800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99:30</a:t>
            </a:r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6E0C3D9-53F9-4F73-9B01-603749F52C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92990146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(1)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입찰 준비서류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C641A67-E61A-45D4-B46E-F063353AD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1F5622C-2DD4-4CC1-9C82-237C9A6C059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8511878"/>
              </p:ext>
            </p:extLst>
          </p:nvPr>
        </p:nvGraphicFramePr>
        <p:xfrm>
          <a:off x="475432" y="1284356"/>
          <a:ext cx="9793836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88">
                  <a:extLst>
                    <a:ext uri="{9D8B030D-6E8A-4147-A177-3AD203B41FA5}">
                      <a16:colId xmlns:a16="http://schemas.microsoft.com/office/drawing/2014/main" val="3011780012"/>
                    </a:ext>
                  </a:extLst>
                </a:gridCol>
                <a:gridCol w="9194848">
                  <a:extLst>
                    <a:ext uri="{9D8B030D-6E8A-4147-A177-3AD203B41FA5}">
                      <a16:colId xmlns:a16="http://schemas.microsoft.com/office/drawing/2014/main" val="1088531700"/>
                    </a:ext>
                  </a:extLst>
                </a:gridCol>
              </a:tblGrid>
              <a:tr h="355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※ 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입찰보증금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                     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원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 / </a:t>
                      </a:r>
                      <a:r>
                        <a:rPr lang="ko-KR" altLang="en-US" sz="2000" b="0" dirty="0">
                          <a:solidFill>
                            <a:schemeClr val="accent2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수표한장</a:t>
                      </a:r>
                      <a:r>
                        <a:rPr lang="ko-KR" altLang="en-US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]</a:t>
                      </a:r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41075"/>
                  </a:ext>
                </a:extLst>
              </a:tr>
              <a:tr h="355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 b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latinLnBrk="1"/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입찰당일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                            ], 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시작시간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], </a:t>
                      </a:r>
                      <a:r>
                        <a:rPr lang="ko-KR" altLang="en-US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입찰 마감시간 </a:t>
                      </a:r>
                      <a:r>
                        <a:rPr lang="en-US" altLang="ko-KR" sz="18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[            ]</a:t>
                      </a:r>
                      <a:endParaRPr lang="ko-KR" altLang="en-US" sz="15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691747"/>
                  </a:ext>
                </a:extLst>
              </a:tr>
            </a:tbl>
          </a:graphicData>
        </a:graphic>
      </p:graphicFrame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A593B7E0-2262-4CE1-81C8-C5D67F2CF0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2070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법원정보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A101461B-1265-4A86-B75F-C90C84E62EA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9532477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(2)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법원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9854FAE-C776-4E08-A068-6B8A7CCE8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그림 개체 틀 45">
            <a:extLst>
              <a:ext uri="{FF2B5EF4-FFF2-40B4-BE49-F238E27FC236}">
                <a16:creationId xmlns:a16="http://schemas.microsoft.com/office/drawing/2014/main" id="{DE7281DC-3631-46B7-9B14-F27892EE52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77683" y="1211579"/>
            <a:ext cx="8936445" cy="5666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해당 법원</a:t>
            </a:r>
            <a:r>
              <a:rPr lang="en-US" altLang="ko-KR" dirty="0"/>
              <a:t>/</a:t>
            </a:r>
            <a:r>
              <a:rPr lang="ko-KR" altLang="en-US" dirty="0"/>
              <a:t>지도 </a:t>
            </a:r>
            <a:r>
              <a:rPr lang="en-US" altLang="ko-KR" dirty="0"/>
              <a:t>~ </a:t>
            </a:r>
            <a:r>
              <a:rPr lang="ko-KR" altLang="en-US" dirty="0"/>
              <a:t>입찰서 접수시간</a:t>
            </a:r>
            <a:r>
              <a:rPr lang="en-US" altLang="ko-KR" dirty="0"/>
              <a:t>” </a:t>
            </a:r>
            <a:r>
              <a:rPr lang="ko-KR" altLang="en-US" dirty="0"/>
              <a:t>까지만 캡쳐 후 이미지를 첨부하세요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(!!! </a:t>
            </a:r>
            <a:r>
              <a:rPr lang="ko-KR" altLang="en-US" dirty="0"/>
              <a:t>찾아오시는 길은 </a:t>
            </a:r>
            <a:r>
              <a:rPr lang="ko-KR" altLang="en-US" dirty="0" err="1"/>
              <a:t>캡쳐하지마세요</a:t>
            </a:r>
            <a:r>
              <a:rPr lang="en-US" altLang="ko-KR" dirty="0"/>
              <a:t>. !!! – </a:t>
            </a:r>
            <a:r>
              <a:rPr lang="ko-KR" altLang="en-US" dirty="0"/>
              <a:t>이미지가 잘립니다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14EFB691-0E55-4266-A5C1-84B6879A92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60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입찰준비 및 절차 (경매 절차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F6319F7D-85BA-46AA-9FA5-A95210F093A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1973970"/>
              </p:ext>
            </p:extLst>
          </p:nvPr>
        </p:nvGraphicFramePr>
        <p:xfrm>
          <a:off x="4709161" y="535833"/>
          <a:ext cx="545342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428">
                  <a:extLst>
                    <a:ext uri="{9D8B030D-6E8A-4147-A177-3AD203B41FA5}">
                      <a16:colId xmlns:a16="http://schemas.microsoft.com/office/drawing/2014/main" val="326518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(3) </a:t>
                      </a:r>
                      <a:r>
                        <a:rPr lang="ko-KR" altLang="en-US" sz="2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경매 절차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926584"/>
                  </a:ext>
                </a:extLst>
              </a:tr>
            </a:tbl>
          </a:graphicData>
        </a:graphic>
      </p:graphicFrame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3F49A8F-BC2F-4080-A1B4-EAAE1D394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A6B4076-7143-4B85-9361-999470049E17}"/>
              </a:ext>
            </a:extLst>
          </p:cNvPr>
          <p:cNvSpPr/>
          <p:nvPr userDrawn="1"/>
        </p:nvSpPr>
        <p:spPr>
          <a:xfrm>
            <a:off x="4428800" y="2541420"/>
            <a:ext cx="1265137" cy="5825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경매개시결정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22EADBB-53EB-418E-8AD9-ADBD12DA7444}"/>
              </a:ext>
            </a:extLst>
          </p:cNvPr>
          <p:cNvSpPr/>
          <p:nvPr userDrawn="1"/>
        </p:nvSpPr>
        <p:spPr>
          <a:xfrm>
            <a:off x="6977254" y="2541420"/>
            <a:ext cx="1265137" cy="5825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경매명령 </a:t>
            </a:r>
            <a:r>
              <a:rPr lang="en-US" altLang="ko-KR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[</a:t>
            </a:r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입찰공고</a:t>
            </a:r>
            <a:r>
              <a:rPr lang="en-US" altLang="ko-KR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]</a:t>
            </a:r>
            <a:endParaRPr lang="ko-KR" altLang="en-US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4A438F0-E42E-41AE-9C62-E95D4B0CEC6E}"/>
              </a:ext>
            </a:extLst>
          </p:cNvPr>
          <p:cNvSpPr/>
          <p:nvPr userDrawn="1"/>
        </p:nvSpPr>
        <p:spPr>
          <a:xfrm>
            <a:off x="6660563" y="4066869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낙찰허가결정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FDF4F5D-CADC-45BF-9BD8-87522724C9D9}"/>
              </a:ext>
            </a:extLst>
          </p:cNvPr>
          <p:cNvSpPr/>
          <p:nvPr userDrawn="1"/>
        </p:nvSpPr>
        <p:spPr>
          <a:xfrm>
            <a:off x="2149425" y="4070255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대금납부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44A03DE-2237-4E3F-98D6-A6C51F3C4ED9}"/>
              </a:ext>
            </a:extLst>
          </p:cNvPr>
          <p:cNvSpPr/>
          <p:nvPr userDrawn="1"/>
        </p:nvSpPr>
        <p:spPr>
          <a:xfrm>
            <a:off x="8567971" y="4066869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경매실시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1B70ECD-5E5B-47A1-BCFB-C729E3D30061}"/>
              </a:ext>
            </a:extLst>
          </p:cNvPr>
          <p:cNvSpPr/>
          <p:nvPr userDrawn="1"/>
        </p:nvSpPr>
        <p:spPr>
          <a:xfrm>
            <a:off x="4084639" y="6033806"/>
            <a:ext cx="1549544" cy="7134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인도명령 명도소송 등기완료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7E63861-0A30-423D-81BF-C4DFE111708A}"/>
              </a:ext>
            </a:extLst>
          </p:cNvPr>
          <p:cNvSpPr/>
          <p:nvPr userDrawn="1"/>
        </p:nvSpPr>
        <p:spPr>
          <a:xfrm>
            <a:off x="1510774" y="6046241"/>
            <a:ext cx="1549544" cy="71347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소유권이전</a:t>
            </a:r>
            <a:endParaRPr lang="en-US" altLang="ko-KR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1200" b="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등기촉탁</a:t>
            </a:r>
            <a:endParaRPr lang="ko-KR" altLang="en-US" sz="1200" b="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8EF5F21-1A5F-42D5-B82D-EFA12CB9A32F}"/>
              </a:ext>
            </a:extLst>
          </p:cNvPr>
          <p:cNvSpPr/>
          <p:nvPr userDrawn="1"/>
        </p:nvSpPr>
        <p:spPr>
          <a:xfrm>
            <a:off x="1494141" y="2399115"/>
            <a:ext cx="1678277" cy="7727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경매신청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C42354AE-D4CF-44F6-BBB8-F6F7745E3F7E}"/>
              </a:ext>
            </a:extLst>
          </p:cNvPr>
          <p:cNvSpPr/>
          <p:nvPr userDrawn="1"/>
        </p:nvSpPr>
        <p:spPr>
          <a:xfrm>
            <a:off x="5989586" y="2677055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982670A2-A347-4CA8-88C1-020D834FDBE7}"/>
              </a:ext>
            </a:extLst>
          </p:cNvPr>
          <p:cNvSpPr/>
          <p:nvPr userDrawn="1"/>
        </p:nvSpPr>
        <p:spPr>
          <a:xfrm>
            <a:off x="3351375" y="2677054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16CFA00F-1E3F-49DA-8680-6F27563D491E}"/>
              </a:ext>
            </a:extLst>
          </p:cNvPr>
          <p:cNvSpPr/>
          <p:nvPr userDrawn="1"/>
        </p:nvSpPr>
        <p:spPr>
          <a:xfrm rot="10800000">
            <a:off x="8032467" y="4203639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3FC72898-D5BD-4FBC-870D-22014197F3C3}"/>
              </a:ext>
            </a:extLst>
          </p:cNvPr>
          <p:cNvSpPr/>
          <p:nvPr userDrawn="1"/>
        </p:nvSpPr>
        <p:spPr>
          <a:xfrm rot="10800000">
            <a:off x="3535284" y="4203638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D23F49A9-FE18-4B9D-9534-CD4A38304BF8}"/>
              </a:ext>
            </a:extLst>
          </p:cNvPr>
          <p:cNvSpPr/>
          <p:nvPr userDrawn="1"/>
        </p:nvSpPr>
        <p:spPr>
          <a:xfrm>
            <a:off x="5783991" y="6236053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8DDFB00-0CA4-44AD-9A0A-846815830C2A}"/>
              </a:ext>
            </a:extLst>
          </p:cNvPr>
          <p:cNvSpPr/>
          <p:nvPr userDrawn="1"/>
        </p:nvSpPr>
        <p:spPr>
          <a:xfrm>
            <a:off x="3214858" y="6236052"/>
            <a:ext cx="719972" cy="229175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화살표: 굽음 5">
            <a:extLst>
              <a:ext uri="{FF2B5EF4-FFF2-40B4-BE49-F238E27FC236}">
                <a16:creationId xmlns:a16="http://schemas.microsoft.com/office/drawing/2014/main" id="{D87627D6-3673-4A9D-BA49-A41AF07F19B2}"/>
              </a:ext>
            </a:extLst>
          </p:cNvPr>
          <p:cNvSpPr/>
          <p:nvPr userDrawn="1"/>
        </p:nvSpPr>
        <p:spPr>
          <a:xfrm rot="5400000">
            <a:off x="8345634" y="2841431"/>
            <a:ext cx="1194248" cy="1017163"/>
          </a:xfrm>
          <a:prstGeom prst="bentArrow">
            <a:avLst>
              <a:gd name="adj1" fmla="val 13300"/>
              <a:gd name="adj2" fmla="val 21767"/>
              <a:gd name="adj3" fmla="val 18538"/>
              <a:gd name="adj4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화살표: 굽음 44">
            <a:extLst>
              <a:ext uri="{FF2B5EF4-FFF2-40B4-BE49-F238E27FC236}">
                <a16:creationId xmlns:a16="http://schemas.microsoft.com/office/drawing/2014/main" id="{F38778F7-E150-4404-8C21-C1EDDFED08F4}"/>
              </a:ext>
            </a:extLst>
          </p:cNvPr>
          <p:cNvSpPr/>
          <p:nvPr userDrawn="1"/>
        </p:nvSpPr>
        <p:spPr>
          <a:xfrm rot="5400000" flipV="1">
            <a:off x="1602418" y="5003507"/>
            <a:ext cx="1471736" cy="456713"/>
          </a:xfrm>
          <a:prstGeom prst="bentArrow">
            <a:avLst>
              <a:gd name="adj1" fmla="val 36659"/>
              <a:gd name="adj2" fmla="val 34791"/>
              <a:gd name="adj3" fmla="val 32428"/>
              <a:gd name="adj4" fmla="val 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3A3080-9942-40AB-8A9F-B7CF5FB4BE86}"/>
              </a:ext>
            </a:extLst>
          </p:cNvPr>
          <p:cNvSpPr/>
          <p:nvPr userDrawn="1"/>
        </p:nvSpPr>
        <p:spPr>
          <a:xfrm>
            <a:off x="2815794" y="3393048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신청각하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E421E75-1DFD-4972-AD88-7BCEFFEA4416}"/>
              </a:ext>
            </a:extLst>
          </p:cNvPr>
          <p:cNvSpPr/>
          <p:nvPr userDrawn="1"/>
        </p:nvSpPr>
        <p:spPr>
          <a:xfrm>
            <a:off x="5454005" y="3393048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법원 경매 준비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91C71B5-E705-441D-A6F7-C75952AC2396}"/>
              </a:ext>
            </a:extLst>
          </p:cNvPr>
          <p:cNvSpPr/>
          <p:nvPr userDrawn="1"/>
        </p:nvSpPr>
        <p:spPr>
          <a:xfrm>
            <a:off x="8086330" y="3380792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입찰기일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15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일전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법원게시판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신문공고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1F2C3AB-78D2-4FCB-B12C-83FF10E7FB4E}"/>
              </a:ext>
            </a:extLst>
          </p:cNvPr>
          <p:cNvSpPr/>
          <p:nvPr userDrawn="1"/>
        </p:nvSpPr>
        <p:spPr>
          <a:xfrm>
            <a:off x="3022397" y="4927126"/>
            <a:ext cx="1598203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낙찰기일까지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권리신고 및 배당요구신청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88DDA0A-39B4-4446-9115-395A061C8C4E}"/>
              </a:ext>
            </a:extLst>
          </p:cNvPr>
          <p:cNvSpPr/>
          <p:nvPr userDrawn="1"/>
        </p:nvSpPr>
        <p:spPr>
          <a:xfrm>
            <a:off x="750047" y="4168083"/>
            <a:ext cx="1053112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납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1E95A72-8976-4875-85AB-A2BC1F5C91BA}"/>
              </a:ext>
            </a:extLst>
          </p:cNvPr>
          <p:cNvSpPr/>
          <p:nvPr userDrawn="1"/>
        </p:nvSpPr>
        <p:spPr>
          <a:xfrm>
            <a:off x="377774" y="4671801"/>
            <a:ext cx="1657991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배당기일통지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14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채권계산서 제출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배당표작성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96068C1-5ED2-4B4D-9F62-53CE0868B00C}"/>
              </a:ext>
            </a:extLst>
          </p:cNvPr>
          <p:cNvSpPr/>
          <p:nvPr userDrawn="1"/>
        </p:nvSpPr>
        <p:spPr>
          <a:xfrm>
            <a:off x="379305" y="5181483"/>
            <a:ext cx="1657991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 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배당이의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</a:t>
            </a:r>
            <a:endParaRPr lang="ko-KR" altLang="en-US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ED62785-AF36-428C-AA8E-8F2CA250CF99}"/>
              </a:ext>
            </a:extLst>
          </p:cNvPr>
          <p:cNvSpPr/>
          <p:nvPr userDrawn="1"/>
        </p:nvSpPr>
        <p:spPr>
          <a:xfrm>
            <a:off x="376245" y="5686858"/>
            <a:ext cx="1660487" cy="280870"/>
          </a:xfrm>
          <a:prstGeom prst="roundRect">
            <a:avLst/>
          </a:prstGeom>
          <a:ln w="25400" cmpd="dbl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tIns="72000" rtlCol="0" anchor="ctr"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배당이의의 소 제기</a:t>
            </a:r>
            <a:endParaRPr lang="en-US" altLang="ko-KR" sz="9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</a:t>
            </a:r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일이내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소제기</a:t>
            </a:r>
            <a:r>
              <a:rPr lang="en-US" altLang="ko-KR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b="1" cap="none" spc="0" dirty="0" err="1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증명원</a:t>
            </a:r>
            <a:r>
              <a:rPr lang="ko-KR" altLang="en-US" sz="9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제출</a:t>
            </a: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64E55507-4ADD-436B-92CA-81B6AF2956DA}"/>
              </a:ext>
            </a:extLst>
          </p:cNvPr>
          <p:cNvSpPr/>
          <p:nvPr userDrawn="1"/>
        </p:nvSpPr>
        <p:spPr>
          <a:xfrm rot="5400000">
            <a:off x="3600181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2F9D2F3B-7395-4152-8196-D44ACDBCD7F5}"/>
              </a:ext>
            </a:extLst>
          </p:cNvPr>
          <p:cNvSpPr/>
          <p:nvPr userDrawn="1"/>
        </p:nvSpPr>
        <p:spPr>
          <a:xfrm rot="5400000">
            <a:off x="6235449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EA0E28FB-F393-4D72-B8F8-CEEFF2EE2FA5}"/>
              </a:ext>
            </a:extLst>
          </p:cNvPr>
          <p:cNvSpPr/>
          <p:nvPr userDrawn="1"/>
        </p:nvSpPr>
        <p:spPr>
          <a:xfrm rot="5400000">
            <a:off x="3532485" y="4613441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오른쪽 65">
            <a:extLst>
              <a:ext uri="{FF2B5EF4-FFF2-40B4-BE49-F238E27FC236}">
                <a16:creationId xmlns:a16="http://schemas.microsoft.com/office/drawing/2014/main" id="{1F2E719B-D7AB-4817-9DCB-AA5EE54A6BB8}"/>
              </a:ext>
            </a:extLst>
          </p:cNvPr>
          <p:cNvSpPr/>
          <p:nvPr userDrawn="1"/>
        </p:nvSpPr>
        <p:spPr>
          <a:xfrm rot="10800000">
            <a:off x="1900704" y="4247478"/>
            <a:ext cx="333791" cy="81867"/>
          </a:xfrm>
          <a:prstGeom prst="rightArrow">
            <a:avLst>
              <a:gd name="adj1" fmla="val 50000"/>
              <a:gd name="adj2" fmla="val 94404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FBAABF2D-6918-4EC7-AC2B-FD4C8521851A}"/>
              </a:ext>
            </a:extLst>
          </p:cNvPr>
          <p:cNvSpPr/>
          <p:nvPr userDrawn="1"/>
        </p:nvSpPr>
        <p:spPr>
          <a:xfrm rot="5400000">
            <a:off x="1312979" y="4492679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57220314-BBAF-488A-A9A7-973C77B20F2B}"/>
              </a:ext>
            </a:extLst>
          </p:cNvPr>
          <p:cNvSpPr/>
          <p:nvPr userDrawn="1"/>
        </p:nvSpPr>
        <p:spPr>
          <a:xfrm rot="5400000">
            <a:off x="1312979" y="5010241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60F3A6F6-DBF0-4B50-89F6-5D65E1FC1A7B}"/>
              </a:ext>
            </a:extLst>
          </p:cNvPr>
          <p:cNvSpPr/>
          <p:nvPr userDrawn="1"/>
        </p:nvSpPr>
        <p:spPr>
          <a:xfrm rot="5400000">
            <a:off x="1312978" y="5508428"/>
            <a:ext cx="142196" cy="87795"/>
          </a:xfrm>
          <a:prstGeom prst="rightArrow">
            <a:avLst>
              <a:gd name="adj1" fmla="val 50000"/>
              <a:gd name="adj2" fmla="val 74926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0" name="말풍선: 사각형 79">
            <a:extLst>
              <a:ext uri="{FF2B5EF4-FFF2-40B4-BE49-F238E27FC236}">
                <a16:creationId xmlns:a16="http://schemas.microsoft.com/office/drawing/2014/main" id="{3DB0FDB1-7AAB-4755-BD18-C04381271CC8}"/>
              </a:ext>
            </a:extLst>
          </p:cNvPr>
          <p:cNvSpPr/>
          <p:nvPr userDrawn="1"/>
        </p:nvSpPr>
        <p:spPr>
          <a:xfrm>
            <a:off x="4114752" y="1670592"/>
            <a:ext cx="1904050" cy="565876"/>
          </a:xfrm>
          <a:prstGeom prst="wedgeRectCallout">
            <a:avLst>
              <a:gd name="adj1" fmla="val -20287"/>
              <a:gd name="adj2" fmla="val 79526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개시결정문당사자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송달</a:t>
            </a:r>
            <a:endParaRPr lang="en-US" altLang="ko-KR" sz="105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경매개시결정이의 </a:t>
            </a:r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즉시항고</a:t>
            </a:r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경매신청 기입 </a:t>
            </a:r>
            <a:r>
              <a:rPr lang="ko-KR" altLang="en-US" sz="105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등기촉탁</a:t>
            </a:r>
            <a:endParaRPr lang="ko-KR" altLang="en-US" sz="105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82" name="말풍선: 사각형 81">
            <a:extLst>
              <a:ext uri="{FF2B5EF4-FFF2-40B4-BE49-F238E27FC236}">
                <a16:creationId xmlns:a16="http://schemas.microsoft.com/office/drawing/2014/main" id="{73DDFCA5-4616-4286-94E0-B81588E62AA9}"/>
              </a:ext>
            </a:extLst>
          </p:cNvPr>
          <p:cNvSpPr/>
          <p:nvPr userDrawn="1"/>
        </p:nvSpPr>
        <p:spPr>
          <a:xfrm rot="10800000">
            <a:off x="8248304" y="4833285"/>
            <a:ext cx="1974825" cy="1258066"/>
          </a:xfrm>
          <a:prstGeom prst="wedgeRectCallout">
            <a:avLst>
              <a:gd name="adj1" fmla="val -20759"/>
              <a:gd name="adj2" fmla="val 7708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3E31A16-5986-40FE-AA5D-C334A511F346}"/>
              </a:ext>
            </a:extLst>
          </p:cNvPr>
          <p:cNvSpPr/>
          <p:nvPr userDrawn="1"/>
        </p:nvSpPr>
        <p:spPr>
          <a:xfrm>
            <a:off x="8248306" y="5136726"/>
            <a:ext cx="1974825" cy="7144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입찰개시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입찰서류 최종열람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,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입찰표작성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입찰봉투 투입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보증금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+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입찰표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+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위임장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입찰마감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및 개찰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-&gt;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최고가입찰자결정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입찰보증금 영수증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84" name="표 84">
            <a:extLst>
              <a:ext uri="{FF2B5EF4-FFF2-40B4-BE49-F238E27FC236}">
                <a16:creationId xmlns:a16="http://schemas.microsoft.com/office/drawing/2014/main" id="{E25385DB-182E-4DA6-AC32-CFBC13F8FA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7337208"/>
              </p:ext>
            </p:extLst>
          </p:nvPr>
        </p:nvGraphicFramePr>
        <p:xfrm>
          <a:off x="5927321" y="238591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3~6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개월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F41FB2B4-B1A3-447F-A61D-9F00684606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7431698"/>
              </p:ext>
            </p:extLst>
          </p:nvPr>
        </p:nvGraphicFramePr>
        <p:xfrm>
          <a:off x="3289110" y="2379537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6" name="표 84">
            <a:extLst>
              <a:ext uri="{FF2B5EF4-FFF2-40B4-BE49-F238E27FC236}">
                <a16:creationId xmlns:a16="http://schemas.microsoft.com/office/drawing/2014/main" id="{35D65D1D-300D-43BD-87F0-D9E1381AB4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74419856"/>
              </p:ext>
            </p:extLst>
          </p:nvPr>
        </p:nvGraphicFramePr>
        <p:xfrm>
          <a:off x="8421913" y="2379537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7" name="표 84">
            <a:extLst>
              <a:ext uri="{FF2B5EF4-FFF2-40B4-BE49-F238E27FC236}">
                <a16:creationId xmlns:a16="http://schemas.microsoft.com/office/drawing/2014/main" id="{31112C30-FA54-4AF8-8BC6-419AB75FEEE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9448049"/>
              </p:ext>
            </p:extLst>
          </p:nvPr>
        </p:nvGraphicFramePr>
        <p:xfrm>
          <a:off x="8012399" y="391167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8" name="표 84">
            <a:extLst>
              <a:ext uri="{FF2B5EF4-FFF2-40B4-BE49-F238E27FC236}">
                <a16:creationId xmlns:a16="http://schemas.microsoft.com/office/drawing/2014/main" id="{EA11FD3F-96FD-4804-84B4-F18EEB0859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9943407"/>
              </p:ext>
            </p:extLst>
          </p:nvPr>
        </p:nvGraphicFramePr>
        <p:xfrm>
          <a:off x="3489980" y="3911671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30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89" name="표 84">
            <a:extLst>
              <a:ext uri="{FF2B5EF4-FFF2-40B4-BE49-F238E27FC236}">
                <a16:creationId xmlns:a16="http://schemas.microsoft.com/office/drawing/2014/main" id="{9623EE37-B6DD-4334-B671-95D77AE466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245055"/>
              </p:ext>
            </p:extLst>
          </p:nvPr>
        </p:nvGraphicFramePr>
        <p:xfrm>
          <a:off x="1668207" y="3896124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즉시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90" name="표 84">
            <a:extLst>
              <a:ext uri="{FF2B5EF4-FFF2-40B4-BE49-F238E27FC236}">
                <a16:creationId xmlns:a16="http://schemas.microsoft.com/office/drawing/2014/main" id="{6412C987-2688-4119-8E2F-90B55EBA805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432811"/>
              </p:ext>
            </p:extLst>
          </p:nvPr>
        </p:nvGraphicFramePr>
        <p:xfrm>
          <a:off x="5722981" y="5944192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2~3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개월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91" name="표 84">
            <a:extLst>
              <a:ext uri="{FF2B5EF4-FFF2-40B4-BE49-F238E27FC236}">
                <a16:creationId xmlns:a16="http://schemas.microsoft.com/office/drawing/2014/main" id="{937B7517-8E44-4D98-9ACB-9812BE675B3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04999691"/>
              </p:ext>
            </p:extLst>
          </p:nvPr>
        </p:nvGraphicFramePr>
        <p:xfrm>
          <a:off x="3128612" y="5944192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즉시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B1671DCE-0C1E-4834-982F-5DCB6D788990}"/>
              </a:ext>
            </a:extLst>
          </p:cNvPr>
          <p:cNvSpPr/>
          <p:nvPr userDrawn="1"/>
        </p:nvSpPr>
        <p:spPr>
          <a:xfrm rot="5400000">
            <a:off x="9054068" y="3089070"/>
            <a:ext cx="375863" cy="64212"/>
          </a:xfrm>
          <a:prstGeom prst="rightArrow">
            <a:avLst>
              <a:gd name="adj1" fmla="val 50000"/>
              <a:gd name="adj2" fmla="val 13806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0" name="표 100">
            <a:extLst>
              <a:ext uri="{FF2B5EF4-FFF2-40B4-BE49-F238E27FC236}">
                <a16:creationId xmlns:a16="http://schemas.microsoft.com/office/drawing/2014/main" id="{D4A2E4E1-74A8-473E-A570-8F8DD2D393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750704"/>
              </p:ext>
            </p:extLst>
          </p:nvPr>
        </p:nvGraphicFramePr>
        <p:xfrm>
          <a:off x="7564576" y="2411415"/>
          <a:ext cx="945511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45511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 err="1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신경매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 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재경매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sp>
        <p:nvSpPr>
          <p:cNvPr id="81" name="말풍선: 사각형 80">
            <a:extLst>
              <a:ext uri="{FF2B5EF4-FFF2-40B4-BE49-F238E27FC236}">
                <a16:creationId xmlns:a16="http://schemas.microsoft.com/office/drawing/2014/main" id="{223B403F-4448-495C-9179-629BFA2B8A42}"/>
              </a:ext>
            </a:extLst>
          </p:cNvPr>
          <p:cNvSpPr/>
          <p:nvPr userDrawn="1"/>
        </p:nvSpPr>
        <p:spPr>
          <a:xfrm>
            <a:off x="6752963" y="1072323"/>
            <a:ext cx="1904050" cy="1150178"/>
          </a:xfrm>
          <a:prstGeom prst="wedgeRectCallout">
            <a:avLst>
              <a:gd name="adj1" fmla="val -20287"/>
              <a:gd name="adj2" fmla="val 67734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집행관현황조사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대치조사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감정평가 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[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최저법시가결정</a:t>
            </a: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]</a:t>
            </a: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물건명세서작성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최초경매일지정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이해관계인 통지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 err="1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공과주무관서에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최고</a:t>
            </a:r>
            <a:endParaRPr lang="en-US" altLang="ko-KR" sz="1000" dirty="0">
              <a:solidFill>
                <a:schemeClr val="accent1">
                  <a:lumMod val="50000"/>
                </a:schemeClr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  <a:p>
            <a:pPr algn="l"/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· </a:t>
            </a:r>
            <a:r>
              <a:rPr lang="ko-KR" altLang="en-US" sz="1000" dirty="0">
                <a:solidFill>
                  <a:schemeClr val="accent1">
                    <a:lumMod val="50000"/>
                  </a:schemeClr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입찰서류준비</a:t>
            </a: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C1764840-137B-4D0C-9C71-BA656B7DCC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15345772"/>
              </p:ext>
            </p:extLst>
          </p:nvPr>
        </p:nvGraphicFramePr>
        <p:xfrm>
          <a:off x="9393942" y="4058226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유찰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24033E90-D5EE-478E-9700-121E1E5E38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2042220"/>
              </p:ext>
            </p:extLst>
          </p:nvPr>
        </p:nvGraphicFramePr>
        <p:xfrm>
          <a:off x="7486658" y="4046017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불허</a:t>
                      </a: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A1F6EE61-7541-4C25-B788-BB24C7AC18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69975670"/>
              </p:ext>
            </p:extLst>
          </p:nvPr>
        </p:nvGraphicFramePr>
        <p:xfrm>
          <a:off x="3726154" y="4241639"/>
          <a:ext cx="472693" cy="2079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72693">
                  <a:extLst>
                    <a:ext uri="{9D8B030D-6E8A-4147-A177-3AD203B41FA5}">
                      <a16:colId xmlns:a16="http://schemas.microsoft.com/office/drawing/2014/main" val="3290280133"/>
                    </a:ext>
                  </a:extLst>
                </a:gridCol>
              </a:tblGrid>
              <a:tr h="207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*</a:t>
                      </a:r>
                      <a:r>
                        <a:rPr lang="ko-KR" altLang="en-US" sz="7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미납</a:t>
                      </a:r>
                      <a:endParaRPr lang="en-US" altLang="ko-KR" sz="70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4594" marR="74594" marT="58735" marB="372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94155"/>
                  </a:ext>
                </a:extLst>
              </a:tr>
            </a:tbl>
          </a:graphicData>
        </a:graphic>
      </p:graphicFrame>
      <p:graphicFrame>
        <p:nvGraphicFramePr>
          <p:cNvPr id="106" name="표 84">
            <a:extLst>
              <a:ext uri="{FF2B5EF4-FFF2-40B4-BE49-F238E27FC236}">
                <a16:creationId xmlns:a16="http://schemas.microsoft.com/office/drawing/2014/main" id="{59C7718F-FD24-40AD-8056-D03D1A8EE26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49977487"/>
              </p:ext>
            </p:extLst>
          </p:nvPr>
        </p:nvGraphicFramePr>
        <p:xfrm>
          <a:off x="735063" y="1043316"/>
          <a:ext cx="10065017" cy="392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10065017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“</a:t>
                      </a:r>
                      <a:r>
                        <a:rPr lang="ko-KR" altLang="en-US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법원 경매 진행 절차 안내도 입니다</a:t>
                      </a:r>
                      <a:r>
                        <a:rPr lang="en-US" altLang="ko-KR" sz="1800" b="0" dirty="0">
                          <a:ln cmpd="dbl"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50800" dist="38100" dir="2700000" algn="tl" rotWithShape="0">
                              <a:schemeClr val="bg1">
                                <a:alpha val="40000"/>
                              </a:schemeClr>
                            </a:outerShdw>
                          </a:effectLst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.”</a:t>
                      </a:r>
                      <a:endParaRPr lang="ko-KR" altLang="en-US" sz="1800" b="0" dirty="0">
                        <a:ln cmpd="dbl"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50800" dist="38100" dir="2700000" algn="tl" rotWithShape="0">
                            <a:schemeClr val="bg1">
                              <a:alpha val="40000"/>
                            </a:schemeClr>
                          </a:outerShdw>
                        </a:effectLst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 marT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graphicFrame>
        <p:nvGraphicFramePr>
          <p:cNvPr id="56" name="표 2">
            <a:extLst>
              <a:ext uri="{FF2B5EF4-FFF2-40B4-BE49-F238E27FC236}">
                <a16:creationId xmlns:a16="http://schemas.microsoft.com/office/drawing/2014/main" id="{9BA303A8-5AA0-4FDB-9384-C6FD15FCA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4093177"/>
              </p:ext>
            </p:extLst>
          </p:nvPr>
        </p:nvGraphicFramePr>
        <p:xfrm>
          <a:off x="329949" y="7136872"/>
          <a:ext cx="47818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1818">
                  <a:extLst>
                    <a:ext uri="{9D8B030D-6E8A-4147-A177-3AD203B41FA5}">
                      <a16:colId xmlns:a16="http://schemas.microsoft.com/office/drawing/2014/main" val="80542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200" b="0" dirty="0">
                          <a:solidFill>
                            <a:schemeClr val="accent2"/>
                          </a:solidFill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경매물건분석 심화컨설팅 브리핑자료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253989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65F0E65-306B-4B27-951E-2A556C3B7FB2}"/>
              </a:ext>
            </a:extLst>
          </p:cNvPr>
          <p:cNvSpPr/>
          <p:nvPr userDrawn="1"/>
        </p:nvSpPr>
        <p:spPr>
          <a:xfrm>
            <a:off x="4381855" y="4066868"/>
            <a:ext cx="1265137" cy="58251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 latinLnBrk="1"/>
            <a:r>
              <a:rPr lang="ko-KR" altLang="en-US" sz="1400" b="1" dirty="0">
                <a:ln cmpd="dbl">
                  <a:noFill/>
                </a:ln>
                <a:solidFill>
                  <a:srgbClr val="C00000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즉시항고</a:t>
            </a:r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C1481C75-F588-4D13-AF64-3FE5C80E02A4}"/>
              </a:ext>
            </a:extLst>
          </p:cNvPr>
          <p:cNvSpPr/>
          <p:nvPr userDrawn="1"/>
        </p:nvSpPr>
        <p:spPr>
          <a:xfrm rot="10800000">
            <a:off x="5770855" y="4208377"/>
            <a:ext cx="719969" cy="229177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61" name="표 84">
            <a:extLst>
              <a:ext uri="{FF2B5EF4-FFF2-40B4-BE49-F238E27FC236}">
                <a16:creationId xmlns:a16="http://schemas.microsoft.com/office/drawing/2014/main" id="{44F3A346-69AA-4964-807B-3FE3F15D948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38163498"/>
              </p:ext>
            </p:extLst>
          </p:nvPr>
        </p:nvGraphicFramePr>
        <p:xfrm>
          <a:off x="5750787" y="3916409"/>
          <a:ext cx="825971" cy="30251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25971">
                  <a:extLst>
                    <a:ext uri="{9D8B030D-6E8A-4147-A177-3AD203B41FA5}">
                      <a16:colId xmlns:a16="http://schemas.microsoft.com/office/drawing/2014/main" val="2453616776"/>
                    </a:ext>
                  </a:extLst>
                </a:gridCol>
              </a:tblGrid>
              <a:tr h="3025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</a:t>
                      </a:r>
                    </a:p>
                  </a:txBody>
                  <a:tcPr marL="74594" marR="74594" marT="58735" marB="3729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457664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780D987-1F1C-470E-BB4A-F5AA2D581DFE}"/>
              </a:ext>
            </a:extLst>
          </p:cNvPr>
          <p:cNvSpPr/>
          <p:nvPr userDrawn="1"/>
        </p:nvSpPr>
        <p:spPr>
          <a:xfrm>
            <a:off x="6782746" y="6004167"/>
            <a:ext cx="1678277" cy="7727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46800" rtlCol="0" anchor="ctr"/>
          <a:lstStyle/>
          <a:p>
            <a:pPr algn="ctr"/>
            <a:r>
              <a:rPr lang="ko-KR" altLang="en-US" sz="1200" b="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건물인도</a:t>
            </a:r>
          </a:p>
        </p:txBody>
      </p:sp>
    </p:spTree>
    <p:extLst>
      <p:ext uri="{BB962C8B-B14F-4D97-AF65-F5344CB8AC3E}">
        <p14:creationId xmlns:p14="http://schemas.microsoft.com/office/powerpoint/2010/main" val="17040212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마지막페이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4">
            <a:extLst>
              <a:ext uri="{FF2B5EF4-FFF2-40B4-BE49-F238E27FC236}">
                <a16:creationId xmlns:a16="http://schemas.microsoft.com/office/drawing/2014/main" id="{2F1E86D9-C439-48AE-89A9-6F48BEAB99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5175" y="6804128"/>
            <a:ext cx="1701800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ko-KR" altLang="en-US" dirty="0" err="1"/>
              <a:t>ㅇㅇㅇ</a:t>
            </a:r>
            <a:r>
              <a:rPr lang="ko-KR" altLang="en-US" dirty="0"/>
              <a:t> 직책</a:t>
            </a:r>
          </a:p>
        </p:txBody>
      </p:sp>
      <p:sp>
        <p:nvSpPr>
          <p:cNvPr id="11" name="텍스트 개체 틀 24">
            <a:extLst>
              <a:ext uri="{FF2B5EF4-FFF2-40B4-BE49-F238E27FC236}">
                <a16:creationId xmlns:a16="http://schemas.microsoft.com/office/drawing/2014/main" id="{ED91867E-3F2C-4EB1-8708-726ACC601B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38286" y="6804128"/>
            <a:ext cx="2291716" cy="2952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lvl="0"/>
            <a:r>
              <a:rPr lang="en-US" altLang="ko-KR" dirty="0"/>
              <a:t>010 – 9999 -9999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45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9BA2F7-0A46-4F68-B607-B9AFABE8F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fld id="{4D72EB92-5A5D-4CC7-941B-53B6F54B60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36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74" r:id="rId3"/>
    <p:sldLayoutId id="2147483722" r:id="rId4"/>
    <p:sldLayoutId id="2147483685" r:id="rId5"/>
    <p:sldLayoutId id="2147483711" r:id="rId6"/>
    <p:sldLayoutId id="2147483712" r:id="rId7"/>
    <p:sldLayoutId id="2147483706" r:id="rId8"/>
    <p:sldLayoutId id="2147483710" r:id="rId9"/>
    <p:sldLayoutId id="2147483723" r:id="rId10"/>
    <p:sldLayoutId id="2147483687" r:id="rId11"/>
    <p:sldLayoutId id="2147483707" r:id="rId12"/>
    <p:sldLayoutId id="2147483728" r:id="rId13"/>
    <p:sldLayoutId id="2147483716" r:id="rId14"/>
    <p:sldLayoutId id="2147483724" r:id="rId15"/>
    <p:sldLayoutId id="2147483719" r:id="rId16"/>
    <p:sldLayoutId id="2147483718" r:id="rId17"/>
    <p:sldLayoutId id="2147483717" r:id="rId18"/>
    <p:sldLayoutId id="2147483684" r:id="rId19"/>
    <p:sldLayoutId id="2147483713" r:id="rId20"/>
    <p:sldLayoutId id="2147483714" r:id="rId21"/>
    <p:sldLayoutId id="2147483708" r:id="rId22"/>
    <p:sldLayoutId id="2147483725" r:id="rId23"/>
    <p:sldLayoutId id="2147483686" r:id="rId24"/>
    <p:sldLayoutId id="2147483690" r:id="rId25"/>
    <p:sldLayoutId id="2147483729" r:id="rId26"/>
    <p:sldLayoutId id="2147483691" r:id="rId27"/>
    <p:sldLayoutId id="2147483703" r:id="rId28"/>
    <p:sldLayoutId id="2147483731" r:id="rId29"/>
    <p:sldLayoutId id="2147483704" r:id="rId30"/>
    <p:sldLayoutId id="2147483730" r:id="rId31"/>
    <p:sldLayoutId id="2147483721" r:id="rId32"/>
    <p:sldLayoutId id="2147483692" r:id="rId33"/>
    <p:sldLayoutId id="2147483726" r:id="rId34"/>
    <p:sldLayoutId id="2147483694" r:id="rId35"/>
    <p:sldLayoutId id="2147483695" r:id="rId36"/>
    <p:sldLayoutId id="2147483693" r:id="rId37"/>
    <p:sldLayoutId id="2147483727" r:id="rId38"/>
    <p:sldLayoutId id="2147483696" r:id="rId39"/>
    <p:sldLayoutId id="2147483697" r:id="rId40"/>
    <p:sldLayoutId id="2147483698" r:id="rId41"/>
    <p:sldLayoutId id="2147483699" r:id="rId42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accent1">
              <a:lumMod val="50000"/>
            </a:schemeClr>
          </a:solidFill>
          <a:latin typeface="G마켓 산스 Bold" panose="02000000000000000000" pitchFamily="50" charset="-127"/>
          <a:ea typeface="G마켓 산스 Bold" panose="02000000000000000000" pitchFamily="50" charset="-127"/>
          <a:cs typeface="+mj-cs"/>
        </a:defRPr>
      </a:lvl1pPr>
    </p:titleStyle>
    <p:bodyStyle>
      <a:lvl1pPr marL="457200" indent="-457200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AutoNum type="arabicPeriod"/>
        <a:defRPr sz="2000" kern="1200">
          <a:solidFill>
            <a:schemeClr val="accent1">
              <a:lumMod val="50000"/>
            </a:schemeClr>
          </a:solidFill>
          <a:latin typeface="G마켓 산스 Bold" panose="02000000000000000000" pitchFamily="50" charset="-127"/>
          <a:ea typeface="G마켓 산스 Bold" panose="02000000000000000000" pitchFamily="50" charset="-127"/>
          <a:cs typeface="+mn-cs"/>
        </a:defRPr>
      </a:lvl1pPr>
      <a:lvl2pPr marL="789721" indent="-285750" algn="l" defTabSz="1007943" rtl="0" eaLnBrk="1" latinLnBrk="1" hangingPunct="1">
        <a:lnSpc>
          <a:spcPct val="90000"/>
        </a:lnSpc>
        <a:spcBef>
          <a:spcPts val="551"/>
        </a:spcBef>
        <a:buFontTx/>
        <a:buChar char="-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2pPr>
      <a:lvl3pPr marL="1350843" indent="-342900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AutoNum type="arabicParenBoth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400" kern="1200">
          <a:solidFill>
            <a:schemeClr val="accent1">
              <a:lumMod val="50000"/>
            </a:schemeClr>
          </a:solidFill>
          <a:latin typeface="G마켓 산스 Light" panose="02000000000000000000" pitchFamily="50" charset="-127"/>
          <a:ea typeface="G마켓 산스 Light" panose="02000000000000000000" pitchFamily="50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284C32C-9ADA-4E1E-BFC5-800A7C0AB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7E312FC5-D730-4B4B-BE43-FA4F8A6A7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9B54E5E5-E728-4647-BC49-B3E8FC9F90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A9AA004-FF9F-485E-8537-10AC8008EB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038C2EC-A653-4654-81A9-748C0550C0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41F131B-A8EF-4C54-9F6E-F02564B855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57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42A23E-A857-4F8A-8475-CA4236841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accent2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fld id="{4D72EB92-5A5D-4CC7-941B-53B6F54B602C}" type="slidenum">
              <a:rPr lang="ko-KR" altLang="en-US" smtClean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pPr/>
              <a:t>2</a:t>
            </a:fld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34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BF90E-594E-4A80-9302-F90448F94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B9B2E-330B-4624-81CC-F74574F488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6D7FC5D-B62E-48CB-B5F4-2F86EC5F9C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AADC2D9C-2374-42DE-A020-BDFAF0D74E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8" name="텍스트 개체 틀 27">
            <a:extLst>
              <a:ext uri="{FF2B5EF4-FFF2-40B4-BE49-F238E27FC236}">
                <a16:creationId xmlns:a16="http://schemas.microsoft.com/office/drawing/2014/main" id="{53E88546-3CE6-4119-AB88-F007AAC9F6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D2E454CD-5282-4819-BE51-DC4AC01314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C3359FC5-0882-43DD-8E5D-E47DE14B8D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8B9A5043-183E-49EE-963C-6BA9865021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6" name="텍스트 개체 틀 35">
            <a:extLst>
              <a:ext uri="{FF2B5EF4-FFF2-40B4-BE49-F238E27FC236}">
                <a16:creationId xmlns:a16="http://schemas.microsoft.com/office/drawing/2014/main" id="{6DC4FA64-109E-4249-AF72-1D2B47DE81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F3AA0DA9-9B92-4D51-9C8B-0A8F253540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27726088-DE9C-4330-BA97-952243AA57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2" name="텍스트 개체 틀 41">
            <a:extLst>
              <a:ext uri="{FF2B5EF4-FFF2-40B4-BE49-F238E27FC236}">
                <a16:creationId xmlns:a16="http://schemas.microsoft.com/office/drawing/2014/main" id="{8558532E-6934-4F68-80DB-71B4FD218B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4" name="텍스트 개체 틀 43">
            <a:extLst>
              <a:ext uri="{FF2B5EF4-FFF2-40B4-BE49-F238E27FC236}">
                <a16:creationId xmlns:a16="http://schemas.microsoft.com/office/drawing/2014/main" id="{469B6A5F-FD08-425D-B5BD-562E42906C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6" name="텍스트 개체 틀 45">
            <a:extLst>
              <a:ext uri="{FF2B5EF4-FFF2-40B4-BE49-F238E27FC236}">
                <a16:creationId xmlns:a16="http://schemas.microsoft.com/office/drawing/2014/main" id="{5DE32BE7-83E1-4E86-AA23-B2BC330BB71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8" name="그림 개체 틀 47">
            <a:extLst>
              <a:ext uri="{FF2B5EF4-FFF2-40B4-BE49-F238E27FC236}">
                <a16:creationId xmlns:a16="http://schemas.microsoft.com/office/drawing/2014/main" id="{F527B9F8-CE5B-4346-AC4C-F8E4CE0C5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ED167A85-690A-4E1E-9FB0-BCC51E67AC9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30CEE312-CA11-47FE-BB74-BE8591D72D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63CB5596-E53E-4223-8F7D-D2000529F3F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A6D45FCB-065F-4A8F-904E-9D8F5023B72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17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900CD82-1E70-412B-ABFE-F7378767D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A4178-2E48-4063-B9F3-5B449DE2F9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24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2CFEB58-CEAB-4D7E-A676-97B497559BC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2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51230A-53F1-4676-A70C-FA17C630DF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B0251-FA65-41CD-9688-89FA0565D6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CA7E4E-EC9F-4BC6-979E-F1CEA13B58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7185952-F7AA-4AD3-B0D8-14C5A5A1C29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98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3FBE8-31CF-40A2-A39F-FD3125EBD8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2C818062-519F-4E16-8BFD-004C6931AF8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7A15B8BB-622E-4BAC-944B-5F8968840AC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EBC195DC-D12C-450A-B7F8-586A666C307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76F9ED0D-CAF9-4FDB-8734-22784E09B88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</p:spTree>
    <p:extLst>
      <p:ext uri="{BB962C8B-B14F-4D97-AF65-F5344CB8AC3E}">
        <p14:creationId xmlns:p14="http://schemas.microsoft.com/office/powerpoint/2010/main" val="424391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41E2C7-01B2-401F-AC03-436B8D52D3B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DF28284-3A8C-45D5-B6F6-7FAB6E79C9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9F21E4B-30D8-4EF9-A283-12A6423C347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CE6D328-CDD7-4243-B969-E754D8C1A21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</p:spTree>
    <p:extLst>
      <p:ext uri="{BB962C8B-B14F-4D97-AF65-F5344CB8AC3E}">
        <p14:creationId xmlns:p14="http://schemas.microsoft.com/office/powerpoint/2010/main" val="296473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8838D7-8527-491F-94A7-D5CEE04BD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73C7A-7F5C-4CFB-9E3E-66CA761A91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35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3591DB-5C05-4D15-9A09-DB76ABEF0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D956FA-0F0E-4BC3-BE9B-A9B27BCE817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92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B8CF0-8C12-460E-8454-7B30051BD1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FC79980-B5D0-4B69-846E-2F5740C55FF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78737A3-1AFB-4917-AC9D-12896E033D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59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A56986-B2F0-4596-BE1A-C34B869D00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2B0108-7558-4448-AEFF-2A5CBC4795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76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6586D1-ECB8-4FA2-8D2C-B50D09D39F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BA8655-1C6D-4497-B839-C8CC1E7C5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B14B45-D9B3-4C9A-A159-311FEE5DAD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629E9E-AC95-443C-B9D0-25D30458BF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925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F55431-852A-4FB0-A0D4-F63695266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E0A2C9-A029-4864-A26D-0D223DAC1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4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6F55431-852A-4FB0-A0D4-F63695266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051DFB-5F2F-41EA-82C6-464F919FC8B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83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E3EE1D-26F9-41B7-A41C-13E1AA013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0DE285-1A82-44BE-83BA-A48A1C89FA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264CF-6751-4A70-8AC8-897F347929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DAE0AF2-F5F5-4B71-A871-9DA06B9DF86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42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6DE231-75F2-45B3-9595-B811E04EAA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5514DA5-FE3B-438C-9828-71F7902EECD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180F69A-6E57-4B18-B24A-E6BF9413FA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68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A40D30A-4346-4623-9D23-3F0D2ABB94C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73BCE970-6B1A-4CB3-9D35-F86FDB5D25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85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026024-464F-4B3B-93D0-36184E88429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C20DF-F74F-412D-8472-B17E7B338A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E529B-7E8E-4649-AEBD-455A086E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323378A-07C9-433F-AF7A-3DB7525E8C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10B6AF-B4DA-48D5-9F10-0C090CE7CA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F39A464-414A-4602-B6F6-17645EB124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5B15557-4712-49BC-BACC-F7C9BD5614F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63B1DA64-5FF2-4DDC-8D5A-80A03C1B7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</p:spPr>
        <p:txBody>
          <a:bodyPr/>
          <a:lstStyle/>
          <a:p>
            <a:fld id="{4D72EB92-5A5D-4CC7-941B-53B6F54B602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534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7E4CC3-B20E-4C53-B335-A91D6FE54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0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F4531F-DE25-4DFE-8B9E-8263A3C6D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32BA6-5EB2-4EDE-82FE-C1500EC3B97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964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EB096-C30F-4EF5-BA38-B5BE672E3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AA0893-2F25-45CB-8AF0-98EB3C1B6D2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63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DF59C9-CCF0-42B1-869B-08F0794CD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7DE594-0FE8-4BDB-A40F-B61B789AA66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618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398048-D0C5-4DB7-9B3C-E4365894A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14E95-BDE0-4898-9BE9-851175FFB83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40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19605E-5AE2-4995-A9A7-43450800C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10BE7B-03BF-4E54-9F6E-D8B427E46D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0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85AE78-FC78-49EA-B5C4-0397ECEA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430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4F8F1-8676-4D00-A4E9-7020745A0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512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23D2CC-A10A-41A5-8276-993BE9457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8205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D757D-14C5-4BBF-82D5-28B86FBEA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9616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C95931-888B-49D8-A54B-5AC75BB536B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1DB7C-43E9-461A-B072-63DC37A0626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2F803F-60C6-4C8A-A667-5DD24DA8CF7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569E3D-A940-41F8-A668-0905C5F6C3B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B850881-5CEF-44A5-844D-3FC6AA6A23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A889AA-586D-469D-8CC4-7AD375C642C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E633AA3-CAFD-4931-8CF2-98F9A5BCA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58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34580-E0D0-48F5-BB6F-BC933010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C7A9C8-57A5-4B95-9F59-74ECCD66F97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1503EC8-29A2-4DD2-AC68-C5E157FA8F2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737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334580-E0D0-48F5-BB6F-BC933010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63610" y="7157191"/>
            <a:ext cx="2405658" cy="330203"/>
          </a:xfrm>
        </p:spPr>
        <p:txBody>
          <a:bodyPr/>
          <a:lstStyle/>
          <a:p>
            <a:fld id="{4D72EB92-5A5D-4CC7-941B-53B6F54B602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9319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3F188FC-2C68-4558-A2EC-B1D977812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3974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4D8FFF-D0BC-4BB9-857E-D65A167E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A1A97F1-E097-4067-99D5-0A2FD50DD3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08DA0A63-1DB2-469A-B71C-03C8B42EB0B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B202637-11DF-4B61-8619-2C8BA16F6DA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1467E0C-1B2F-4056-9436-5A49354C415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197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DA647C-B2DA-4915-8A90-409052494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DD7AD-02EC-4691-9374-8B2037BD7C3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</p:sp>
    </p:spTree>
    <p:extLst>
      <p:ext uri="{BB962C8B-B14F-4D97-AF65-F5344CB8AC3E}">
        <p14:creationId xmlns:p14="http://schemas.microsoft.com/office/powerpoint/2010/main" val="3422693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4D8FFF-D0BC-4BB9-857E-D65A167EB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72EB92-5A5D-4CC7-941B-53B6F54B602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1921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E26AF-9CEE-4982-894B-1504D43C7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B92DA7-EB46-4384-8D84-FE2CF13700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591247"/>
      </p:ext>
    </p:extLst>
  </p:cSld>
  <p:clrMapOvr>
    <a:masterClrMapping/>
  </p:clrMapOvr>
</p:sld>
</file>

<file path=ppt/theme/theme1.xml><?xml version="1.0" encoding="utf-8"?>
<a:theme xmlns:a="http://schemas.openxmlformats.org/drawingml/2006/main" name="리뉴얼 브리핑보고서(마이옥션)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500" dirty="0" err="1" smtClean="0">
            <a:solidFill>
              <a:schemeClr val="accent1">
                <a:lumMod val="50000"/>
              </a:schemeClr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3429</TotalTime>
  <Words>1601</Words>
  <Application>Microsoft Office PowerPoint</Application>
  <PresentationFormat>사용자 지정</PresentationFormat>
  <Paragraphs>223</Paragraphs>
  <Slides>40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0" baseType="lpstr">
      <vt:lpstr>G마켓 산스 Bold</vt:lpstr>
      <vt:lpstr>G마켓 산스 Light</vt:lpstr>
      <vt:lpstr>G마켓 산스 Medium</vt:lpstr>
      <vt:lpstr>G마켓 산스 TTF Bold</vt:lpstr>
      <vt:lpstr>G마켓 산스 TTF Light</vt:lpstr>
      <vt:lpstr>G마켓 산스 TTF Medium</vt:lpstr>
      <vt:lpstr>맑은 고딕</vt:lpstr>
      <vt:lpstr>Arial</vt:lpstr>
      <vt:lpstr>Calibri</vt:lpstr>
      <vt:lpstr>리뉴얼 브리핑보고서(마이옥션)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김영훈</dc:creator>
  <cp:lastModifiedBy>김영훈</cp:lastModifiedBy>
  <cp:revision>782</cp:revision>
  <cp:lastPrinted>2025-11-11T00:37:44Z</cp:lastPrinted>
  <dcterms:created xsi:type="dcterms:W3CDTF">2025-11-10T00:38:27Z</dcterms:created>
  <dcterms:modified xsi:type="dcterms:W3CDTF">2026-06-22T08:40:08Z</dcterms:modified>
</cp:coreProperties>
</file>